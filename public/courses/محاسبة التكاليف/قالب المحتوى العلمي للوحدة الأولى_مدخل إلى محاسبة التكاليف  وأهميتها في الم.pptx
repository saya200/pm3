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64" r:id="rId2"/>
    <p:sldId id="268" r:id="rId3"/>
    <p:sldId id="269" r:id="rId4"/>
    <p:sldId id="270" r:id="rId5"/>
    <p:sldId id="297" r:id="rId6"/>
    <p:sldId id="307" r:id="rId7"/>
    <p:sldId id="274" r:id="rId8"/>
    <p:sldId id="277" r:id="rId9"/>
    <p:sldId id="306" r:id="rId10"/>
    <p:sldId id="308" r:id="rId11"/>
    <p:sldId id="309" r:id="rId12"/>
    <p:sldId id="310" r:id="rId13"/>
    <p:sldId id="311" r:id="rId14"/>
    <p:sldId id="295" r:id="rId15"/>
    <p:sldId id="312" r:id="rId16"/>
    <p:sldId id="313" r:id="rId17"/>
    <p:sldId id="314" r:id="rId18"/>
    <p:sldId id="302" r:id="rId19"/>
    <p:sldId id="303" r:id="rId20"/>
    <p:sldId id="304" r:id="rId21"/>
    <p:sldId id="299" r:id="rId22"/>
  </p:sldIdLst>
  <p:sldSz cx="12192000" cy="6858000"/>
  <p:notesSz cx="6858000" cy="9144000"/>
  <p:defaultTextStyle>
    <a:defPPr>
      <a:defRPr lang="ar-S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103" d="100"/>
          <a:sy n="103" d="100"/>
        </p:scale>
        <p:origin x="15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A7936378-4DC7-465B-A9D7-64AF2EA2E2B9}" type="datetimeFigureOut">
              <a:rPr lang="ar-SA" smtClean="0"/>
              <a:t>01/04/1448</a:t>
            </a:fld>
            <a:endParaRPr lang="ar-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4ED5B15-1B0E-4C12-B35C-8C8B566D6476}" type="slidenum">
              <a:rPr lang="ar-SA" smtClean="0"/>
              <a:t>‹#›</a:t>
            </a:fld>
            <a:endParaRPr lang="ar-SA"/>
          </a:p>
        </p:txBody>
      </p:sp>
    </p:spTree>
    <p:extLst>
      <p:ext uri="{BB962C8B-B14F-4D97-AF65-F5344CB8AC3E}">
        <p14:creationId xmlns:p14="http://schemas.microsoft.com/office/powerpoint/2010/main" val="398504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FD6E76C-18A7-4577-8C6A-1A4B684D5332}" type="slidenum">
              <a:rPr kumimoji="0" lang="ar-SA" sz="1200" b="0" i="0" u="none" strike="noStrike" kern="1200" cap="none" spc="0" normalizeH="0" baseline="0" noProof="0" smtClean="0">
                <a:ln>
                  <a:noFill/>
                </a:ln>
                <a:solidFill>
                  <a:prstClr val="black"/>
                </a:solidFill>
                <a:effectLst/>
                <a:uLnTx/>
                <a:uFillTx/>
                <a:latin typeface="Aptos" panose="02110004020202020204"/>
                <a:ea typeface="+mn-ea"/>
                <a:cs typeface="Arial" panose="020B0604020202020204" pitchFamily="34" charset="0"/>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ar-SA" sz="1200" b="0" i="0" u="none" strike="noStrike" kern="1200" cap="none" spc="0" normalizeH="0" baseline="0" noProof="0">
              <a:ln>
                <a:noFill/>
              </a:ln>
              <a:solidFill>
                <a:prstClr val="black"/>
              </a:solidFill>
              <a:effectLst/>
              <a:uLnTx/>
              <a:uFillTx/>
              <a:latin typeface="Aptos" panose="02110004020202020204"/>
              <a:ea typeface="+mn-ea"/>
              <a:cs typeface="Arial" panose="020B0604020202020204" pitchFamily="34" charset="0"/>
            </a:endParaRPr>
          </a:p>
        </p:txBody>
      </p:sp>
    </p:spTree>
    <p:extLst>
      <p:ext uri="{BB962C8B-B14F-4D97-AF65-F5344CB8AC3E}">
        <p14:creationId xmlns:p14="http://schemas.microsoft.com/office/powerpoint/2010/main" val="2987234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E3DE8EE-4A09-4A5A-BC43-DD449D22FE1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76628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r"/>
            <a:endParaRPr lang="en-US" dirty="0"/>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D9FABA2-788D-487E-9E30-FDAFC140C5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54753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B6A39-0D2A-B882-62E6-16E10019C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54556-E057-CE37-3B3D-9C4D42CF74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7C3FF5-7041-D6CE-44F6-06849AE16B29}"/>
              </a:ext>
            </a:extLst>
          </p:cNvPr>
          <p:cNvSpPr>
            <a:spLocks noGrp="1"/>
          </p:cNvSpPr>
          <p:nvPr>
            <p:ph type="body" idx="1"/>
          </p:nvPr>
        </p:nvSpPr>
        <p:spPr/>
        <p:txBody>
          <a:bodyPr>
            <a:normAutofit/>
          </a:bodyPr>
          <a:lstStyle/>
          <a:p>
            <a:pPr algn="r"/>
            <a:endParaRPr lang="en-US" dirty="0"/>
          </a:p>
        </p:txBody>
      </p:sp>
      <p:sp>
        <p:nvSpPr>
          <p:cNvPr id="4" name="Slide Number Placeholder 3">
            <a:extLst>
              <a:ext uri="{FF2B5EF4-FFF2-40B4-BE49-F238E27FC236}">
                <a16:creationId xmlns:a16="http://schemas.microsoft.com/office/drawing/2014/main" id="{C0692C90-0411-FDC4-0B83-1DFFD99F9AB5}"/>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D9FABA2-788D-487E-9E30-FDAFC140C5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7324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4E03C-BB49-5A25-E59B-0987DA636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83DB4-4574-C762-6207-2D7179266F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F7DAD-6926-3500-5107-0F61D5A66A71}"/>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48517075-8578-CEE5-0CD0-DD9BEB789558}"/>
              </a:ext>
            </a:extLst>
          </p:cNvPr>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D9FABA2-788D-487E-9E30-FDAFC140C5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149381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0225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2929073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عنوان ومحتوى">
    <p:spTree>
      <p:nvGrpSpPr>
        <p:cNvPr id="1" name=""/>
        <p:cNvGrpSpPr/>
        <p:nvPr/>
      </p:nvGrpSpPr>
      <p:grpSpPr>
        <a:xfrm>
          <a:off x="0" y="0"/>
          <a:ext cx="0" cy="0"/>
          <a:chOff x="0" y="0"/>
          <a:chExt cx="0" cy="0"/>
        </a:xfrm>
      </p:grpSpPr>
      <p:sp>
        <p:nvSpPr>
          <p:cNvPr id="3" name="عنصر نائب للمحتوى 2"/>
          <p:cNvSpPr>
            <a:spLocks noGrp="1"/>
          </p:cNvSpPr>
          <p:nvPr>
            <p:ph idx="1"/>
          </p:nvPr>
        </p:nvSpPr>
        <p:spPr/>
        <p:txBody>
          <a:bodyPr/>
          <a:lstStyle/>
          <a:p>
            <a:pPr lvl="0" eaLnBrk="1" latinLnBrk="0" hangingPunct="1"/>
            <a:r>
              <a:rPr lang="ar-SA"/>
              <a:t>انقر لتحرير أنماط النص الرئيسي</a:t>
            </a:r>
          </a:p>
          <a:p>
            <a:pPr lvl="1" eaLnBrk="1" latinLnBrk="0" hangingPunct="1"/>
            <a:r>
              <a:rPr lang="ar-SA"/>
              <a:t>المستوى الثاني</a:t>
            </a:r>
          </a:p>
          <a:p>
            <a:pPr lvl="2" eaLnBrk="1" latinLnBrk="0" hangingPunct="1"/>
            <a:r>
              <a:rPr lang="ar-SA"/>
              <a:t>المستوى الثالث</a:t>
            </a:r>
          </a:p>
          <a:p>
            <a:pPr lvl="3" eaLnBrk="1" latinLnBrk="0" hangingPunct="1"/>
            <a:r>
              <a:rPr lang="ar-SA"/>
              <a:t>المستوى الرابع</a:t>
            </a:r>
          </a:p>
          <a:p>
            <a:pPr lvl="4" eaLnBrk="1" latinLnBrk="0" hangingPunct="1"/>
            <a:r>
              <a:rPr lang="ar-SA"/>
              <a:t>المستوى الخامس</a:t>
            </a:r>
            <a:endParaRPr kumimoji="0" lang="en-US"/>
          </a:p>
        </p:txBody>
      </p:sp>
      <p:sp>
        <p:nvSpPr>
          <p:cNvPr id="4" name="عنصر نائب للتاريخ 3"/>
          <p:cNvSpPr>
            <a:spLocks noGrp="1"/>
          </p:cNvSpPr>
          <p:nvPr>
            <p:ph type="dt" sz="half" idx="10"/>
          </p:nvPr>
        </p:nvSpPr>
        <p:spPr/>
        <p:txBody>
          <a:bodyPr/>
          <a:lstStyle/>
          <a:p>
            <a:fld id="{18886D9A-81DE-4F2B-85C2-DEF56756BA15}" type="datetime1">
              <a:rPr lang="ar-SA" smtClean="0"/>
              <a:pPr/>
              <a:t>01/04/1448</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pPr/>
              <a:t>‹#›</a:t>
            </a:fld>
            <a:endParaRPr lang="ar-SA"/>
          </a:p>
        </p:txBody>
      </p:sp>
      <p:sp>
        <p:nvSpPr>
          <p:cNvPr id="7" name="عنوان 6"/>
          <p:cNvSpPr>
            <a:spLocks noGrp="1"/>
          </p:cNvSpPr>
          <p:nvPr>
            <p:ph type="title"/>
          </p:nvPr>
        </p:nvSpPr>
        <p:spPr/>
        <p:txBody>
          <a:bodyPr rtlCol="0"/>
          <a:lstStyle/>
          <a:p>
            <a:r>
              <a:rPr kumimoji="0" lang="ar-SA"/>
              <a:t>انقر لتحرير نمط العنوان الرئيسي</a:t>
            </a:r>
            <a:endParaRPr kumimoji="0" lang="en-US"/>
          </a:p>
        </p:txBody>
      </p:sp>
    </p:spTree>
    <p:extLst>
      <p:ext uri="{BB962C8B-B14F-4D97-AF65-F5344CB8AC3E}">
        <p14:creationId xmlns:p14="http://schemas.microsoft.com/office/powerpoint/2010/main" val="2077861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5781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9F5EBE0-A8E2-AE9D-3227-CB06510C559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308570" y="6197296"/>
            <a:ext cx="1505253" cy="326138"/>
          </a:xfrm>
          <a:prstGeom prst="rect">
            <a:avLst/>
          </a:prstGeom>
        </p:spPr>
      </p:pic>
      <p:sp>
        <p:nvSpPr>
          <p:cNvPr id="8" name="TextBox 7">
            <a:extLst>
              <a:ext uri="{FF2B5EF4-FFF2-40B4-BE49-F238E27FC236}">
                <a16:creationId xmlns:a16="http://schemas.microsoft.com/office/drawing/2014/main" id="{BCBF1CAA-D98F-2DA1-376A-9542B4C0E83F}"/>
              </a:ext>
            </a:extLst>
          </p:cNvPr>
          <p:cNvSpPr txBox="1"/>
          <p:nvPr userDrawn="1"/>
        </p:nvSpPr>
        <p:spPr>
          <a:xfrm>
            <a:off x="-2301468" y="6282697"/>
            <a:ext cx="10863522" cy="307777"/>
          </a:xfrm>
          <a:prstGeom prst="rect">
            <a:avLst/>
          </a:prstGeom>
          <a:noFill/>
        </p:spPr>
        <p:txBody>
          <a:bodyPr wrap="square" rtlCol="0">
            <a:spAutoFit/>
          </a:bodyPr>
          <a:lstStyle/>
          <a:p>
            <a:pPr algn="r" rtl="1"/>
            <a:r>
              <a:rPr lang="en-SA" sz="1400" dirty="0">
                <a:solidFill>
                  <a:schemeClr val="bg1">
                    <a:lumMod val="85000"/>
                  </a:schemeClr>
                </a:solidFill>
              </a:rPr>
              <a:t>_________________________________________________________________________</a:t>
            </a:r>
            <a:r>
              <a:rPr lang="en-US" sz="1400" dirty="0">
                <a:solidFill>
                  <a:schemeClr val="bg1">
                    <a:lumMod val="85000"/>
                  </a:schemeClr>
                </a:solidFill>
              </a:rPr>
              <a:t>_</a:t>
            </a:r>
            <a:r>
              <a:rPr lang="en-SA" sz="1400" dirty="0">
                <a:solidFill>
                  <a:schemeClr val="bg1">
                    <a:lumMod val="85000"/>
                  </a:schemeClr>
                </a:solidFill>
              </a:rPr>
              <a:t>__</a:t>
            </a:r>
          </a:p>
        </p:txBody>
      </p:sp>
      <p:pic>
        <p:nvPicPr>
          <p:cNvPr id="9" name="Picture 8" descr="A black and white logo&#10;&#10;Description automatically generated">
            <a:extLst>
              <a:ext uri="{FF2B5EF4-FFF2-40B4-BE49-F238E27FC236}">
                <a16:creationId xmlns:a16="http://schemas.microsoft.com/office/drawing/2014/main" id="{CBDC97B7-6B79-902C-D53F-C58A90B5CA6B}"/>
              </a:ext>
            </a:extLst>
          </p:cNvPr>
          <p:cNvPicPr>
            <a:picLocks noChangeAspect="1"/>
          </p:cNvPicPr>
          <p:nvPr userDrawn="1"/>
        </p:nvPicPr>
        <p:blipFill>
          <a:blip r:embed="rId8"/>
          <a:stretch>
            <a:fillRect/>
          </a:stretch>
        </p:blipFill>
        <p:spPr>
          <a:xfrm>
            <a:off x="8525372" y="6189295"/>
            <a:ext cx="1664676" cy="353783"/>
          </a:xfrm>
          <a:prstGeom prst="rect">
            <a:avLst/>
          </a:prstGeom>
        </p:spPr>
      </p:pic>
    </p:spTree>
    <p:extLst>
      <p:ext uri="{BB962C8B-B14F-4D97-AF65-F5344CB8AC3E}">
        <p14:creationId xmlns:p14="http://schemas.microsoft.com/office/powerpoint/2010/main" val="359385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jpg"/><Relationship Id="rId1" Type="http://schemas.openxmlformats.org/officeDocument/2006/relationships/slideLayout" Target="../slideLayouts/slideLayout2.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www.qoyod.com/blog/business-management/%d9%83%d9%8a%d9%81%d9%8a%d8%a9-%d8%a7%d9%84%d8%aa%d9%81%d8%a7%d9%88%d8%b6-%d9%85%d8%b9-%d8%a7%d9%84%d9%85%d8%b3%d8%aa%d8%ab%d9%85%d8%b1%d9%8a%d9%86/" TargetMode="External"/><Relationship Id="rId2" Type="http://schemas.openxmlformats.org/officeDocument/2006/relationships/hyperlink" Target="https://www.qoyod.com/blog/companies-management/%d8%a8%d8%b1%d9%86%d8%a7%d9%85%d8%ac-%d8%a5%d8%af%d8%a7%d8%b1%d8%a9-%d8%b4%d8%a4%d9%88%d9%86-%d8%a7%d9%84%d9%85%d9%88%d8%b8%d9%81%d9%8a%d9%86/"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www.qoyod.com/blog/business-knowledge/%d9%87%d8%a7%d9%85%d8%b4-%d8%a7%d9%84%d9%85%d8%b3%d8%a7%d9%87%d9%85%d8%a9/"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www.qoyod.com/glossary/semi-variable-cost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www.qoyod.com/glossary/%d8%a7%d9%84%d8%aa%d9%83%d8%a7%d9%84%d9%8a%d9%81-%d8%a7%d9%84%d8%ba%d8%a7%d8%b1%d9%82%d8%a9/" TargetMode="External"/><Relationship Id="rId2" Type="http://schemas.openxmlformats.org/officeDocument/2006/relationships/hyperlink" Target="https://www.qoyod.com/glossary/%d8%aa%d9%83%d9%84%d9%81%d8%a9-%d8%a7%d9%84%d9%81%d8%b1%d8%b5%d8%a9-%d8%a7%d9%84%d8%a8%d8%af%d9%8a%d9%84%d8%a9/"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EAC08-0906-FC2B-BB3E-27CC36190DA8}"/>
            </a:ext>
          </a:extLst>
        </p:cNvPr>
        <p:cNvGrpSpPr/>
        <p:nvPr/>
      </p:nvGrpSpPr>
      <p:grpSpPr>
        <a:xfrm>
          <a:off x="0" y="0"/>
          <a:ext cx="0" cy="0"/>
          <a:chOff x="0" y="0"/>
          <a:chExt cx="0" cy="0"/>
        </a:xfrm>
      </p:grpSpPr>
      <p:pic>
        <p:nvPicPr>
          <p:cNvPr id="7" name="Picture 6" descr="A blue and green triangle&#10;&#10;AI-generated content may be incorrect.">
            <a:extLst>
              <a:ext uri="{FF2B5EF4-FFF2-40B4-BE49-F238E27FC236}">
                <a16:creationId xmlns:a16="http://schemas.microsoft.com/office/drawing/2014/main" id="{0567E6F1-45AB-9BDB-5CCA-94569DD4C0BE}"/>
              </a:ext>
            </a:extLst>
          </p:cNvPr>
          <p:cNvPicPr>
            <a:picLocks noChangeAspect="1"/>
          </p:cNvPicPr>
          <p:nvPr/>
        </p:nvPicPr>
        <p:blipFill>
          <a:blip r:embed="rId2"/>
          <a:srcRect t="6626" b="1363"/>
          <a:stretch>
            <a:fillRect/>
          </a:stretch>
        </p:blipFill>
        <p:spPr>
          <a:xfrm>
            <a:off x="5535010" y="0"/>
            <a:ext cx="5525814" cy="6858000"/>
          </a:xfrm>
          <a:prstGeom prst="rect">
            <a:avLst/>
          </a:prstGeom>
        </p:spPr>
      </p:pic>
      <p:pic>
        <p:nvPicPr>
          <p:cNvPr id="4" name="Picture 3" descr="A green book with white text&#10;&#10;Description automatically generated">
            <a:extLst>
              <a:ext uri="{FF2B5EF4-FFF2-40B4-BE49-F238E27FC236}">
                <a16:creationId xmlns:a16="http://schemas.microsoft.com/office/drawing/2014/main" id="{85B7242D-9F58-D57D-5DA5-7ECD4AACADDF}"/>
              </a:ext>
            </a:extLst>
          </p:cNvPr>
          <p:cNvPicPr>
            <a:picLocks noChangeAspect="1"/>
          </p:cNvPicPr>
          <p:nvPr/>
        </p:nvPicPr>
        <p:blipFill rotWithShape="1">
          <a:blip r:embed="rId3"/>
          <a:srcRect t="58015"/>
          <a:stretch/>
        </p:blipFill>
        <p:spPr>
          <a:xfrm>
            <a:off x="1666775" y="702506"/>
            <a:ext cx="2389599" cy="660320"/>
          </a:xfrm>
          <a:prstGeom prst="rect">
            <a:avLst/>
          </a:prstGeom>
        </p:spPr>
      </p:pic>
      <p:sp>
        <p:nvSpPr>
          <p:cNvPr id="8" name="TextBox 7">
            <a:extLst>
              <a:ext uri="{FF2B5EF4-FFF2-40B4-BE49-F238E27FC236}">
                <a16:creationId xmlns:a16="http://schemas.microsoft.com/office/drawing/2014/main" id="{7142CCFB-7D80-77B4-D65D-B4E18822A4D3}"/>
              </a:ext>
            </a:extLst>
          </p:cNvPr>
          <p:cNvSpPr txBox="1"/>
          <p:nvPr/>
        </p:nvSpPr>
        <p:spPr>
          <a:xfrm>
            <a:off x="1371600" y="2975001"/>
            <a:ext cx="5525814" cy="2369495"/>
          </a:xfrm>
          <a:prstGeom prst="rect">
            <a:avLst/>
          </a:prstGeom>
          <a:noFill/>
        </p:spPr>
        <p:txBody>
          <a:bodyPr wrap="square" rtlCol="0">
            <a:spAutoFit/>
          </a:bodyPr>
          <a:lstStyle/>
          <a:p>
            <a:pPr algn="r" defTabSz="457200" rtl="1">
              <a:lnSpc>
                <a:spcPct val="130000"/>
              </a:lnSpc>
            </a:pPr>
            <a:r>
              <a:rPr lang="ar-SA" sz="3200" dirty="0">
                <a:solidFill>
                  <a:srgbClr val="165F82"/>
                </a:solidFill>
                <a:latin typeface="DIN NEXT™ ARABIC MEDIUM" panose="020B0603020203050203" pitchFamily="34" charset="-78"/>
                <a:cs typeface="DIN NEXT™ ARABIC MEDIUM" panose="020B0603020203050203" pitchFamily="34" charset="-78"/>
              </a:rPr>
              <a:t>البرنامج: الدبلوم العالي في إدارة المشاريع</a:t>
            </a:r>
          </a:p>
          <a:p>
            <a:pPr algn="r" defTabSz="457200" rtl="1">
              <a:lnSpc>
                <a:spcPct val="130000"/>
              </a:lnSpc>
            </a:pPr>
            <a:r>
              <a:rPr lang="ar-SA" sz="3200" dirty="0">
                <a:solidFill>
                  <a:srgbClr val="165F82"/>
                </a:solidFill>
                <a:latin typeface="DIN NEXT™ ARABIC MEDIUM" panose="020B0603020203050203" pitchFamily="34" charset="-78"/>
                <a:cs typeface="DIN NEXT™ ARABIC MEDIUM" panose="020B0603020203050203" pitchFamily="34" charset="-78"/>
              </a:rPr>
              <a:t>المقـــــرر: محاسبة التكاليف</a:t>
            </a:r>
          </a:p>
          <a:p>
            <a:pPr algn="r" defTabSz="457200" rtl="1">
              <a:lnSpc>
                <a:spcPct val="130000"/>
              </a:lnSpc>
            </a:pPr>
            <a:r>
              <a:rPr lang="ar-SA" sz="2000" dirty="0">
                <a:solidFill>
                  <a:prstClr val="black"/>
                </a:solidFill>
                <a:latin typeface="DIN NEXT™ ARABIC MEDIUM" panose="020B0603020203050203" pitchFamily="34" charset="-78"/>
                <a:cs typeface="DIN NEXT™ ARABIC MEDIUM" panose="020B0603020203050203" pitchFamily="34" charset="-78"/>
              </a:rPr>
              <a:t>رقــم المقــرر:</a:t>
            </a:r>
            <a:r>
              <a:rPr lang="en-US" sz="2000" dirty="0">
                <a:solidFill>
                  <a:prstClr val="black"/>
                </a:solidFill>
                <a:latin typeface="DIN NEXT™ ARABIC MEDIUM" panose="020B0603020203050203" pitchFamily="34" charset="-78"/>
                <a:cs typeface="DIN NEXT™ ARABIC MEDIUM" panose="020B0603020203050203" pitchFamily="34" charset="-78"/>
              </a:rPr>
              <a:t>PRM-127 </a:t>
            </a:r>
            <a:endParaRPr lang="en-SA" sz="2000" dirty="0">
              <a:solidFill>
                <a:prstClr val="black"/>
              </a:solidFill>
              <a:latin typeface="DIN NEXT™ ARABIC MEDIUM" panose="020B0603020203050203" pitchFamily="34" charset="-78"/>
              <a:cs typeface="DIN NEXT™ ARABIC MEDIUM" panose="020B0603020203050203" pitchFamily="34" charset="-78"/>
            </a:endParaRPr>
          </a:p>
        </p:txBody>
      </p:sp>
      <p:pic>
        <p:nvPicPr>
          <p:cNvPr id="12" name="Graphic 11">
            <a:extLst>
              <a:ext uri="{FF2B5EF4-FFF2-40B4-BE49-F238E27FC236}">
                <a16:creationId xmlns:a16="http://schemas.microsoft.com/office/drawing/2014/main" id="{4D9AF552-B63C-C7B3-9C0D-5A8C48181D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37002" y="828675"/>
            <a:ext cx="2115098" cy="564026"/>
          </a:xfrm>
          <a:prstGeom prst="rect">
            <a:avLst/>
          </a:prstGeom>
        </p:spPr>
      </p:pic>
      <p:pic>
        <p:nvPicPr>
          <p:cNvPr id="3" name="Picture 2" descr="A black background with white text&#10;&#10;AI-generated content may be incorrect.">
            <a:extLst>
              <a:ext uri="{FF2B5EF4-FFF2-40B4-BE49-F238E27FC236}">
                <a16:creationId xmlns:a16="http://schemas.microsoft.com/office/drawing/2014/main" id="{0D43C5FC-F951-2BAA-3EF5-3BB851D3C82B}"/>
              </a:ext>
            </a:extLst>
          </p:cNvPr>
          <p:cNvPicPr>
            <a:picLocks noChangeAspect="1"/>
          </p:cNvPicPr>
          <p:nvPr/>
        </p:nvPicPr>
        <p:blipFill>
          <a:blip r:embed="rId6"/>
          <a:stretch>
            <a:fillRect/>
          </a:stretch>
        </p:blipFill>
        <p:spPr>
          <a:xfrm>
            <a:off x="4401664" y="780678"/>
            <a:ext cx="1707777" cy="654648"/>
          </a:xfrm>
          <a:prstGeom prst="rect">
            <a:avLst/>
          </a:prstGeom>
        </p:spPr>
      </p:pic>
    </p:spTree>
    <p:extLst>
      <p:ext uri="{BB962C8B-B14F-4D97-AF65-F5344CB8AC3E}">
        <p14:creationId xmlns:p14="http://schemas.microsoft.com/office/powerpoint/2010/main" val="402572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5D115-4CEE-D6CE-0E7F-523C066171D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D0CFA84-23BF-16A1-D459-09BD7DDE90F3}"/>
              </a:ext>
            </a:extLst>
          </p:cNvPr>
          <p:cNvSpPr/>
          <p:nvPr/>
        </p:nvSpPr>
        <p:spPr>
          <a:xfrm>
            <a:off x="1143000" y="1"/>
            <a:ext cx="9906000" cy="15060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SA">
              <a:solidFill>
                <a:prstClr val="white"/>
              </a:solidFill>
              <a:latin typeface="Aptos" panose="02110004020202020204"/>
            </a:endParaRPr>
          </a:p>
        </p:txBody>
      </p:sp>
      <p:pic>
        <p:nvPicPr>
          <p:cNvPr id="10" name="Picture 9" descr="A blue and green background&#10;&#10;AI-generated content may be incorrect.">
            <a:extLst>
              <a:ext uri="{FF2B5EF4-FFF2-40B4-BE49-F238E27FC236}">
                <a16:creationId xmlns:a16="http://schemas.microsoft.com/office/drawing/2014/main" id="{C0E8855E-8F7A-1EC3-043A-D23310B9E15C}"/>
              </a:ext>
            </a:extLst>
          </p:cNvPr>
          <p:cNvPicPr>
            <a:picLocks noChangeAspect="1"/>
          </p:cNvPicPr>
          <p:nvPr/>
        </p:nvPicPr>
        <p:blipFill>
          <a:blip r:embed="rId3">
            <a:alphaModFix amt="48000"/>
          </a:blip>
          <a:srcRect t="-1" r="20300" b="65399"/>
          <a:stretch>
            <a:fillRect/>
          </a:stretch>
        </p:blipFill>
        <p:spPr>
          <a:xfrm>
            <a:off x="1143000" y="11876"/>
            <a:ext cx="9906001" cy="1498476"/>
          </a:xfrm>
          <a:prstGeom prst="rect">
            <a:avLst/>
          </a:prstGeom>
        </p:spPr>
      </p:pic>
      <p:sp>
        <p:nvSpPr>
          <p:cNvPr id="6" name="Slide Number Placeholder 1">
            <a:extLst>
              <a:ext uri="{FF2B5EF4-FFF2-40B4-BE49-F238E27FC236}">
                <a16:creationId xmlns:a16="http://schemas.microsoft.com/office/drawing/2014/main" id="{C8E7AE52-6E6C-BDAA-FACD-15E4828687A4}"/>
              </a:ext>
            </a:extLst>
          </p:cNvPr>
          <p:cNvSpPr txBox="1">
            <a:spLocks/>
          </p:cNvSpPr>
          <p:nvPr/>
        </p:nvSpPr>
        <p:spPr>
          <a:xfrm>
            <a:off x="1481307" y="6335430"/>
            <a:ext cx="594756"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42DE0FA-1C2E-BF4B-95A3-80048197BB06}" type="slidenum">
              <a:rPr lang="en-SA" sz="1200">
                <a:solidFill>
                  <a:prstClr val="white">
                    <a:lumMod val="65000"/>
                  </a:prstClr>
                </a:solidFill>
                <a:latin typeface="Aptos" panose="02110004020202020204"/>
              </a:rPr>
              <a:pPr/>
              <a:t>2</a:t>
            </a:fld>
            <a:endParaRPr lang="en-SA" sz="1200" dirty="0">
              <a:solidFill>
                <a:prstClr val="white">
                  <a:lumMod val="65000"/>
                </a:prstClr>
              </a:solidFill>
              <a:latin typeface="Aptos" panose="02110004020202020204"/>
            </a:endParaRPr>
          </a:p>
        </p:txBody>
      </p:sp>
      <p:sp>
        <p:nvSpPr>
          <p:cNvPr id="8" name="TextBox 7">
            <a:extLst>
              <a:ext uri="{FF2B5EF4-FFF2-40B4-BE49-F238E27FC236}">
                <a16:creationId xmlns:a16="http://schemas.microsoft.com/office/drawing/2014/main" id="{BA839256-B08D-9949-9B05-8BACFA895031}"/>
              </a:ext>
            </a:extLst>
          </p:cNvPr>
          <p:cNvSpPr txBox="1"/>
          <p:nvPr/>
        </p:nvSpPr>
        <p:spPr>
          <a:xfrm>
            <a:off x="1631951" y="618672"/>
            <a:ext cx="8081309" cy="866006"/>
          </a:xfrm>
          <a:prstGeom prst="rect">
            <a:avLst/>
          </a:prstGeom>
          <a:noFill/>
        </p:spPr>
        <p:txBody>
          <a:bodyPr wrap="square">
            <a:spAutoFit/>
          </a:bodyPr>
          <a:lstStyle/>
          <a:p>
            <a:pPr algn="r" defTabSz="457200" rtl="1">
              <a:lnSpc>
                <a:spcPct val="115000"/>
              </a:lnSpc>
              <a:spcAft>
                <a:spcPts val="1000"/>
              </a:spcAft>
            </a:pPr>
            <a:r>
              <a:rPr lang="ar-SA" sz="2000"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rPr>
              <a:t>أهداف الوحدة الأولى: مدخل إلى محاسبة التكاليف وأهميتها في المشاريع</a:t>
            </a:r>
          </a:p>
          <a:p>
            <a:pPr algn="r" defTabSz="457200" rtl="1">
              <a:lnSpc>
                <a:spcPct val="115000"/>
              </a:lnSpc>
              <a:spcAft>
                <a:spcPts val="1000"/>
              </a:spcAft>
            </a:pPr>
            <a:endParaRPr lang="en-US"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endParaRPr>
          </a:p>
        </p:txBody>
      </p:sp>
      <p:sp>
        <p:nvSpPr>
          <p:cNvPr id="3" name="TextBox 2">
            <a:extLst>
              <a:ext uri="{FF2B5EF4-FFF2-40B4-BE49-F238E27FC236}">
                <a16:creationId xmlns:a16="http://schemas.microsoft.com/office/drawing/2014/main" id="{2BC2C14F-855F-24AA-ABDB-B12C6D07A5AF}"/>
              </a:ext>
            </a:extLst>
          </p:cNvPr>
          <p:cNvSpPr txBox="1"/>
          <p:nvPr/>
        </p:nvSpPr>
        <p:spPr>
          <a:xfrm>
            <a:off x="1631950" y="2312557"/>
            <a:ext cx="8820150" cy="1061829"/>
          </a:xfrm>
          <a:prstGeom prst="rect">
            <a:avLst/>
          </a:prstGeom>
          <a:noFill/>
        </p:spPr>
        <p:txBody>
          <a:bodyPr wrap="square">
            <a:spAutoFit/>
          </a:bodyPr>
          <a:lstStyle/>
          <a:p>
            <a:pPr algn="justLow" defTabSz="457200" rtl="1">
              <a:lnSpc>
                <a:spcPct val="150000"/>
              </a:lnSpc>
            </a:pPr>
            <a:r>
              <a:rPr lang="ar-SA" kern="0" dirty="0">
                <a:solidFill>
                  <a:srgbClr val="669442"/>
                </a:solidFill>
                <a:latin typeface="DIN NEXT™ ARABIC MEDIUM" panose="020B0603020203050203" pitchFamily="34" charset="-78"/>
                <a:cs typeface="DIN NEXT™ ARABIC MEDIUM" panose="020B0603020203050203" pitchFamily="34" charset="-78"/>
              </a:rPr>
              <a:t>تهدف الوحدة إلى:</a:t>
            </a:r>
          </a:p>
          <a:p>
            <a:pPr algn="justLow" defTabSz="457200" rtl="1"/>
            <a:r>
              <a:rPr lang="ar-SA" dirty="0"/>
              <a:t>تهدف الوحدة إلى تزويد الطالب تعريفه بتطور محاسبة التكاليف واهميتها</a:t>
            </a:r>
          </a:p>
          <a:p>
            <a:pPr algn="justLow" defTabSz="457200" rtl="1">
              <a:lnSpc>
                <a:spcPct val="100000"/>
              </a:lnSpc>
            </a:pPr>
            <a:r>
              <a:rPr lang="ar-SA" dirty="0"/>
              <a:t> </a:t>
            </a:r>
            <a:endParaRPr lang="ar-SA" kern="0" dirty="0">
              <a:solidFill>
                <a:srgbClr val="669442"/>
              </a:solidFill>
              <a:latin typeface="DIN NEXT™ ARABIC MEDIUM" panose="020B0603020203050203" pitchFamily="34" charset="-78"/>
              <a:cs typeface="DIN NEXT™ ARABIC MEDIUM" panose="020B0603020203050203" pitchFamily="34" charset="-78"/>
            </a:endParaRPr>
          </a:p>
        </p:txBody>
      </p:sp>
      <p:pic>
        <p:nvPicPr>
          <p:cNvPr id="2" name="Picture 1" descr="A black background with a black square&#10;&#10;AI-generated content may be incorrect.">
            <a:extLst>
              <a:ext uri="{FF2B5EF4-FFF2-40B4-BE49-F238E27FC236}">
                <a16:creationId xmlns:a16="http://schemas.microsoft.com/office/drawing/2014/main" id="{B188BF0C-8B38-0522-5E0D-06C67211CE6C}"/>
              </a:ext>
            </a:extLst>
          </p:cNvPr>
          <p:cNvPicPr>
            <a:picLocks noChangeAspect="1"/>
          </p:cNvPicPr>
          <p:nvPr/>
        </p:nvPicPr>
        <p:blipFill>
          <a:blip r:embed="rId4">
            <a:extLst>
              <a:ext uri="{BEBA8EAE-BF5A-486C-A8C5-ECC9F3942E4B}">
                <a14:imgProps xmlns:a14="http://schemas.microsoft.com/office/drawing/2010/main">
                  <a14:imgLayer r:embed="rId5">
                    <a14:imgEffect>
                      <a14:artisticPhotocopy trans="0"/>
                    </a14:imgEffect>
                  </a14:imgLayer>
                </a14:imgProps>
              </a:ext>
            </a:extLst>
          </a:blip>
          <a:stretch>
            <a:fillRect/>
          </a:stretch>
        </p:blipFill>
        <p:spPr>
          <a:xfrm>
            <a:off x="9793366" y="470820"/>
            <a:ext cx="658734" cy="658734"/>
          </a:xfrm>
          <a:prstGeom prst="rect">
            <a:avLst/>
          </a:prstGeom>
        </p:spPr>
      </p:pic>
    </p:spTree>
    <p:extLst>
      <p:ext uri="{BB962C8B-B14F-4D97-AF65-F5344CB8AC3E}">
        <p14:creationId xmlns:p14="http://schemas.microsoft.com/office/powerpoint/2010/main" val="2532974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F1AAB-9E75-639D-FF69-32D11A6D3BA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9197010-0820-E81F-F324-767AF1462363}"/>
              </a:ext>
            </a:extLst>
          </p:cNvPr>
          <p:cNvSpPr/>
          <p:nvPr/>
        </p:nvSpPr>
        <p:spPr>
          <a:xfrm>
            <a:off x="1143000" y="1"/>
            <a:ext cx="9906000" cy="15060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SA">
              <a:solidFill>
                <a:prstClr val="white"/>
              </a:solidFill>
              <a:latin typeface="Aptos" panose="02110004020202020204"/>
            </a:endParaRPr>
          </a:p>
        </p:txBody>
      </p:sp>
      <p:pic>
        <p:nvPicPr>
          <p:cNvPr id="10" name="Picture 9" descr="A blue and green background&#10;&#10;AI-generated content may be incorrect.">
            <a:extLst>
              <a:ext uri="{FF2B5EF4-FFF2-40B4-BE49-F238E27FC236}">
                <a16:creationId xmlns:a16="http://schemas.microsoft.com/office/drawing/2014/main" id="{191480C2-60F7-E639-F334-7B169FA9E4D4}"/>
              </a:ext>
            </a:extLst>
          </p:cNvPr>
          <p:cNvPicPr>
            <a:picLocks noChangeAspect="1"/>
          </p:cNvPicPr>
          <p:nvPr/>
        </p:nvPicPr>
        <p:blipFill>
          <a:blip r:embed="rId2">
            <a:alphaModFix amt="48000"/>
          </a:blip>
          <a:srcRect t="-1" r="20300" b="65399"/>
          <a:stretch>
            <a:fillRect/>
          </a:stretch>
        </p:blipFill>
        <p:spPr>
          <a:xfrm>
            <a:off x="1143000" y="11876"/>
            <a:ext cx="9906001" cy="1498476"/>
          </a:xfrm>
          <a:prstGeom prst="rect">
            <a:avLst/>
          </a:prstGeom>
        </p:spPr>
      </p:pic>
      <p:sp>
        <p:nvSpPr>
          <p:cNvPr id="6" name="Slide Number Placeholder 1">
            <a:extLst>
              <a:ext uri="{FF2B5EF4-FFF2-40B4-BE49-F238E27FC236}">
                <a16:creationId xmlns:a16="http://schemas.microsoft.com/office/drawing/2014/main" id="{86DF3F3A-DF6D-ECE3-32FA-EBBE48D29787}"/>
              </a:ext>
            </a:extLst>
          </p:cNvPr>
          <p:cNvSpPr txBox="1">
            <a:spLocks/>
          </p:cNvSpPr>
          <p:nvPr/>
        </p:nvSpPr>
        <p:spPr>
          <a:xfrm>
            <a:off x="1481307" y="6335430"/>
            <a:ext cx="594756"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42DE0FA-1C2E-BF4B-95A3-80048197BB06}" type="slidenum">
              <a:rPr lang="en-SA" sz="1200">
                <a:solidFill>
                  <a:prstClr val="white">
                    <a:lumMod val="65000"/>
                  </a:prstClr>
                </a:solidFill>
                <a:latin typeface="Aptos" panose="02110004020202020204"/>
              </a:rPr>
              <a:pPr/>
              <a:t>3</a:t>
            </a:fld>
            <a:endParaRPr lang="en-SA" sz="1200" dirty="0">
              <a:solidFill>
                <a:prstClr val="white">
                  <a:lumMod val="65000"/>
                </a:prstClr>
              </a:solidFill>
              <a:latin typeface="Aptos" panose="02110004020202020204"/>
            </a:endParaRPr>
          </a:p>
        </p:txBody>
      </p:sp>
      <p:sp>
        <p:nvSpPr>
          <p:cNvPr id="8" name="TextBox 7">
            <a:extLst>
              <a:ext uri="{FF2B5EF4-FFF2-40B4-BE49-F238E27FC236}">
                <a16:creationId xmlns:a16="http://schemas.microsoft.com/office/drawing/2014/main" id="{46E3FBF5-EA34-FC4B-CD0E-A70C84C3A4C0}"/>
              </a:ext>
            </a:extLst>
          </p:cNvPr>
          <p:cNvSpPr txBox="1"/>
          <p:nvPr/>
        </p:nvSpPr>
        <p:spPr>
          <a:xfrm>
            <a:off x="1631951" y="618672"/>
            <a:ext cx="8081309" cy="866006"/>
          </a:xfrm>
          <a:prstGeom prst="rect">
            <a:avLst/>
          </a:prstGeom>
          <a:noFill/>
        </p:spPr>
        <p:txBody>
          <a:bodyPr wrap="square">
            <a:spAutoFit/>
          </a:bodyPr>
          <a:lstStyle/>
          <a:p>
            <a:pPr algn="r" defTabSz="457200" rtl="1">
              <a:lnSpc>
                <a:spcPct val="115000"/>
              </a:lnSpc>
              <a:spcAft>
                <a:spcPts val="1000"/>
              </a:spcAft>
            </a:pPr>
            <a:r>
              <a:rPr lang="ar-SA" sz="2000"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rPr>
              <a:t>نواتج التعلم للوحدة </a:t>
            </a:r>
            <a:r>
              <a:rPr lang="ar-SA"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rPr>
              <a:t>الأولى: مدخل إلى محاسبة التكاليف وأهميتها في المشاريع</a:t>
            </a:r>
          </a:p>
          <a:p>
            <a:pPr algn="r" defTabSz="457200" rtl="1">
              <a:lnSpc>
                <a:spcPct val="115000"/>
              </a:lnSpc>
              <a:spcAft>
                <a:spcPts val="1000"/>
              </a:spcAft>
            </a:pPr>
            <a:endParaRPr lang="en-US"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endParaRPr>
          </a:p>
        </p:txBody>
      </p:sp>
      <p:sp>
        <p:nvSpPr>
          <p:cNvPr id="3" name="TextBox 2">
            <a:extLst>
              <a:ext uri="{FF2B5EF4-FFF2-40B4-BE49-F238E27FC236}">
                <a16:creationId xmlns:a16="http://schemas.microsoft.com/office/drawing/2014/main" id="{434CF260-04E2-29BC-4FA7-92419BA0AD32}"/>
              </a:ext>
            </a:extLst>
          </p:cNvPr>
          <p:cNvSpPr txBox="1"/>
          <p:nvPr/>
        </p:nvSpPr>
        <p:spPr>
          <a:xfrm>
            <a:off x="1685924" y="1773540"/>
            <a:ext cx="8820150" cy="1114216"/>
          </a:xfrm>
          <a:prstGeom prst="rect">
            <a:avLst/>
          </a:prstGeom>
          <a:noFill/>
        </p:spPr>
        <p:txBody>
          <a:bodyPr wrap="square">
            <a:spAutoFit/>
          </a:bodyPr>
          <a:lstStyle/>
          <a:p>
            <a:pPr algn="justLow" defTabSz="457200" rtl="1">
              <a:lnSpc>
                <a:spcPct val="150000"/>
              </a:lnSpc>
            </a:pPr>
            <a:r>
              <a:rPr lang="ar-SA" kern="0" dirty="0">
                <a:solidFill>
                  <a:srgbClr val="669442"/>
                </a:solidFill>
                <a:latin typeface="DIN NEXT™ ARABIC MEDIUM" panose="020B0603020203050203" pitchFamily="34" charset="-78"/>
                <a:cs typeface="DIN NEXT™ ARABIC MEDIUM" panose="020B0603020203050203" pitchFamily="34" charset="-78"/>
              </a:rPr>
              <a:t>بنهاية الوحدة سيكون الطالب قادراً على أن:</a:t>
            </a:r>
          </a:p>
          <a:p>
            <a:pPr algn="justLow" defTabSz="457200" rtl="1">
              <a:lnSpc>
                <a:spcPct val="150000"/>
              </a:lnSpc>
            </a:pPr>
            <a:r>
              <a:rPr lang="ar-SA" sz="1400" b="1" dirty="0"/>
              <a:t>1 - </a:t>
            </a:r>
            <a:r>
              <a:rPr lang="ar-SA" sz="1400" dirty="0"/>
              <a:t> الالمام  بمحاسبة التكاليف واهميتها في المشاريع</a:t>
            </a:r>
          </a:p>
          <a:p>
            <a:pPr algn="justLow" defTabSz="457200" rtl="1">
              <a:lnSpc>
                <a:spcPct val="150000"/>
              </a:lnSpc>
            </a:pPr>
            <a:endParaRPr lang="ar-SA" sz="1400" b="1" dirty="0"/>
          </a:p>
        </p:txBody>
      </p:sp>
      <p:pic>
        <p:nvPicPr>
          <p:cNvPr id="5" name="Picture 4" descr="A black background with a black square&#10;&#10;AI-generated content may be incorrect.">
            <a:extLst>
              <a:ext uri="{FF2B5EF4-FFF2-40B4-BE49-F238E27FC236}">
                <a16:creationId xmlns:a16="http://schemas.microsoft.com/office/drawing/2014/main" id="{D5B084AE-1D0C-3A86-B708-B8ECA4EBA01F}"/>
              </a:ext>
            </a:extLst>
          </p:cNvPr>
          <p:cNvPicPr>
            <a:picLocks noChangeAspect="1"/>
          </p:cNvPicPr>
          <p:nvPr/>
        </p:nvPicPr>
        <p:blipFill>
          <a:blip r:embed="rId3">
            <a:extLst>
              <a:ext uri="{BEBA8EAE-BF5A-486C-A8C5-ECC9F3942E4B}">
                <a14:imgProps xmlns:a14="http://schemas.microsoft.com/office/drawing/2010/main">
                  <a14:imgLayer r:embed="rId4">
                    <a14:imgEffect>
                      <a14:artisticPhotocopy trans="0"/>
                    </a14:imgEffect>
                  </a14:imgLayer>
                </a14:imgProps>
              </a:ext>
            </a:extLst>
          </a:blip>
          <a:stretch>
            <a:fillRect/>
          </a:stretch>
        </p:blipFill>
        <p:spPr>
          <a:xfrm>
            <a:off x="9762067" y="435957"/>
            <a:ext cx="730788" cy="730788"/>
          </a:xfrm>
          <a:prstGeom prst="rect">
            <a:avLst/>
          </a:prstGeom>
        </p:spPr>
      </p:pic>
    </p:spTree>
    <p:extLst>
      <p:ext uri="{BB962C8B-B14F-4D97-AF65-F5344CB8AC3E}">
        <p14:creationId xmlns:p14="http://schemas.microsoft.com/office/powerpoint/2010/main" val="1690302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C24BF-86FC-FCBD-7111-DAFCA9588DA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B49FF2A-35CC-4EBA-AC0F-06DC9CDAC01F}"/>
              </a:ext>
            </a:extLst>
          </p:cNvPr>
          <p:cNvSpPr/>
          <p:nvPr/>
        </p:nvSpPr>
        <p:spPr>
          <a:xfrm>
            <a:off x="1143000" y="1"/>
            <a:ext cx="9906000" cy="150607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1"/>
            <a:endParaRPr lang="en-SA">
              <a:solidFill>
                <a:prstClr val="white"/>
              </a:solidFill>
              <a:latin typeface="Aptos" panose="02110004020202020204"/>
            </a:endParaRPr>
          </a:p>
        </p:txBody>
      </p:sp>
      <p:pic>
        <p:nvPicPr>
          <p:cNvPr id="10" name="Picture 9" descr="A blue and green background&#10;&#10;AI-generated content may be incorrect.">
            <a:extLst>
              <a:ext uri="{FF2B5EF4-FFF2-40B4-BE49-F238E27FC236}">
                <a16:creationId xmlns:a16="http://schemas.microsoft.com/office/drawing/2014/main" id="{31CC340A-ECB5-2767-82F1-AC583FB74738}"/>
              </a:ext>
            </a:extLst>
          </p:cNvPr>
          <p:cNvPicPr>
            <a:picLocks noChangeAspect="1"/>
          </p:cNvPicPr>
          <p:nvPr/>
        </p:nvPicPr>
        <p:blipFill>
          <a:blip r:embed="rId2">
            <a:alphaModFix amt="48000"/>
          </a:blip>
          <a:srcRect t="-1" r="20300" b="65399"/>
          <a:stretch>
            <a:fillRect/>
          </a:stretch>
        </p:blipFill>
        <p:spPr>
          <a:xfrm>
            <a:off x="1143000" y="11876"/>
            <a:ext cx="9906001" cy="1498476"/>
          </a:xfrm>
          <a:prstGeom prst="rect">
            <a:avLst/>
          </a:prstGeom>
        </p:spPr>
      </p:pic>
      <p:sp>
        <p:nvSpPr>
          <p:cNvPr id="6" name="Slide Number Placeholder 1">
            <a:extLst>
              <a:ext uri="{FF2B5EF4-FFF2-40B4-BE49-F238E27FC236}">
                <a16:creationId xmlns:a16="http://schemas.microsoft.com/office/drawing/2014/main" id="{C44A190B-7D0F-6611-94D1-DC4C608752EE}"/>
              </a:ext>
            </a:extLst>
          </p:cNvPr>
          <p:cNvSpPr txBox="1">
            <a:spLocks/>
          </p:cNvSpPr>
          <p:nvPr/>
        </p:nvSpPr>
        <p:spPr>
          <a:xfrm>
            <a:off x="1481307" y="6335430"/>
            <a:ext cx="594756"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42DE0FA-1C2E-BF4B-95A3-80048197BB06}" type="slidenum">
              <a:rPr lang="en-SA" sz="1200">
                <a:solidFill>
                  <a:prstClr val="white">
                    <a:lumMod val="65000"/>
                  </a:prstClr>
                </a:solidFill>
                <a:latin typeface="Aptos" panose="02110004020202020204"/>
              </a:rPr>
              <a:pPr/>
              <a:t>4</a:t>
            </a:fld>
            <a:endParaRPr lang="en-SA" sz="1200" dirty="0">
              <a:solidFill>
                <a:prstClr val="white">
                  <a:lumMod val="65000"/>
                </a:prstClr>
              </a:solidFill>
              <a:latin typeface="Aptos" panose="02110004020202020204"/>
            </a:endParaRPr>
          </a:p>
        </p:txBody>
      </p:sp>
      <p:sp>
        <p:nvSpPr>
          <p:cNvPr id="8" name="TextBox 7">
            <a:extLst>
              <a:ext uri="{FF2B5EF4-FFF2-40B4-BE49-F238E27FC236}">
                <a16:creationId xmlns:a16="http://schemas.microsoft.com/office/drawing/2014/main" id="{B911374A-1ED4-D83F-3AE9-4C89366E546D}"/>
              </a:ext>
            </a:extLst>
          </p:cNvPr>
          <p:cNvSpPr txBox="1"/>
          <p:nvPr/>
        </p:nvSpPr>
        <p:spPr>
          <a:xfrm>
            <a:off x="1631951" y="618672"/>
            <a:ext cx="8081309" cy="866006"/>
          </a:xfrm>
          <a:prstGeom prst="rect">
            <a:avLst/>
          </a:prstGeom>
          <a:noFill/>
        </p:spPr>
        <p:txBody>
          <a:bodyPr wrap="square">
            <a:spAutoFit/>
          </a:bodyPr>
          <a:lstStyle/>
          <a:p>
            <a:pPr algn="r" defTabSz="457200" rtl="1">
              <a:lnSpc>
                <a:spcPct val="115000"/>
              </a:lnSpc>
              <a:spcAft>
                <a:spcPts val="1000"/>
              </a:spcAft>
            </a:pPr>
            <a:r>
              <a:rPr lang="ar-SA" sz="2000"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rPr>
              <a:t>موضوعات الوحدة </a:t>
            </a:r>
            <a:r>
              <a:rPr lang="ar-SA"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rPr>
              <a:t>الأولى: مدخل إلى المحاسبة وأهميتها في المؤسسات</a:t>
            </a:r>
          </a:p>
          <a:p>
            <a:pPr algn="r" defTabSz="457200" rtl="1">
              <a:lnSpc>
                <a:spcPct val="115000"/>
              </a:lnSpc>
              <a:spcAft>
                <a:spcPts val="1000"/>
              </a:spcAft>
            </a:pPr>
            <a:endParaRPr lang="en-US" b="1" dirty="0">
              <a:solidFill>
                <a:prstClr val="white"/>
              </a:solidFill>
              <a:latin typeface="Neo Sans Arabic" panose="020B0504030504040204" pitchFamily="34" charset="-78"/>
              <a:ea typeface="Calibri" panose="020F0502020204030204" pitchFamily="34" charset="0"/>
              <a:cs typeface="Neo Sans Arabic" panose="020B0504030504040204" pitchFamily="34" charset="-78"/>
            </a:endParaRPr>
          </a:p>
        </p:txBody>
      </p:sp>
      <p:sp>
        <p:nvSpPr>
          <p:cNvPr id="3" name="TextBox 2">
            <a:extLst>
              <a:ext uri="{FF2B5EF4-FFF2-40B4-BE49-F238E27FC236}">
                <a16:creationId xmlns:a16="http://schemas.microsoft.com/office/drawing/2014/main" id="{A2D80DEB-1D41-AC08-76FA-7B23C71C34E1}"/>
              </a:ext>
            </a:extLst>
          </p:cNvPr>
          <p:cNvSpPr txBox="1"/>
          <p:nvPr/>
        </p:nvSpPr>
        <p:spPr>
          <a:xfrm>
            <a:off x="-1246716" y="2173828"/>
            <a:ext cx="8820150" cy="1329659"/>
          </a:xfrm>
          <a:prstGeom prst="rect">
            <a:avLst/>
          </a:prstGeom>
          <a:noFill/>
        </p:spPr>
        <p:txBody>
          <a:bodyPr wrap="square">
            <a:spAutoFit/>
          </a:bodyPr>
          <a:lstStyle/>
          <a:p>
            <a:pPr algn="justLow" defTabSz="457200" rtl="1">
              <a:lnSpc>
                <a:spcPct val="150000"/>
              </a:lnSpc>
            </a:pPr>
            <a:r>
              <a:rPr lang="ar-SA" kern="0" dirty="0">
                <a:solidFill>
                  <a:srgbClr val="669442"/>
                </a:solidFill>
                <a:latin typeface="DIN NEXT™ ARABIC MEDIUM" panose="020B0603020203050203" pitchFamily="34" charset="-78"/>
                <a:cs typeface="DIN NEXT™ ARABIC MEDIUM" panose="020B0603020203050203" pitchFamily="34" charset="-78"/>
              </a:rPr>
              <a:t>تشمل الوحدة الموضوعات التالية:</a:t>
            </a:r>
          </a:p>
          <a:p>
            <a:pPr algn="r">
              <a:lnSpc>
                <a:spcPct val="150000"/>
              </a:lnSpc>
              <a:tabLst>
                <a:tab pos="8077200" algn="l"/>
              </a:tabLst>
            </a:pPr>
            <a:endParaRPr lang="en-US" sz="1400" b="1" dirty="0"/>
          </a:p>
          <a:p>
            <a:pPr algn="r">
              <a:lnSpc>
                <a:spcPct val="100000"/>
              </a:lnSpc>
              <a:tabLst>
                <a:tab pos="8077200" algn="l"/>
              </a:tabLst>
            </a:pPr>
            <a:r>
              <a:rPr lang="ar-SA" sz="1400" dirty="0"/>
              <a:t>بتطور محاسبة التكاليف واهميتها في المشاريع</a:t>
            </a:r>
            <a:endParaRPr lang="ar-SA" sz="1400" b="1" dirty="0"/>
          </a:p>
          <a:p>
            <a:pPr algn="justLow" defTabSz="457200" rtl="1">
              <a:lnSpc>
                <a:spcPct val="150000"/>
              </a:lnSpc>
            </a:pPr>
            <a:endParaRPr lang="ar-SA" sz="1400" kern="0" dirty="0">
              <a:solidFill>
                <a:srgbClr val="000000"/>
              </a:solidFill>
              <a:latin typeface="DIN NEXT™ ARABIC LIGHT" panose="020B0303020203050203" pitchFamily="34" charset="-78"/>
              <a:ea typeface="Times New Roman" panose="02020603050405020304" pitchFamily="18" charset="0"/>
              <a:cs typeface="DIN NEXT™ ARABIC LIGHT" panose="020B0303020203050203" pitchFamily="34" charset="-78"/>
            </a:endParaRPr>
          </a:p>
        </p:txBody>
      </p:sp>
      <p:pic>
        <p:nvPicPr>
          <p:cNvPr id="4" name="Picture 3">
            <a:extLst>
              <a:ext uri="{FF2B5EF4-FFF2-40B4-BE49-F238E27FC236}">
                <a16:creationId xmlns:a16="http://schemas.microsoft.com/office/drawing/2014/main" id="{D4E94845-F146-5AE6-EC96-4C4AF2A31190}"/>
              </a:ext>
            </a:extLst>
          </p:cNvPr>
          <p:cNvPicPr>
            <a:picLocks noChangeAspect="1"/>
          </p:cNvPicPr>
          <p:nvPr/>
        </p:nvPicPr>
        <p:blipFill>
          <a:blip r:embed="rId3">
            <a:biLevel thresh="25000"/>
          </a:blip>
          <a:srcRect l="9388" t="10805" r="25555" b="12874"/>
          <a:stretch>
            <a:fillRect/>
          </a:stretch>
        </p:blipFill>
        <p:spPr>
          <a:xfrm>
            <a:off x="9819500" y="448354"/>
            <a:ext cx="632601" cy="692337"/>
          </a:xfrm>
          <a:prstGeom prst="rect">
            <a:avLst/>
          </a:prstGeom>
        </p:spPr>
      </p:pic>
    </p:spTree>
    <p:extLst>
      <p:ext uri="{BB962C8B-B14F-4D97-AF65-F5344CB8AC3E}">
        <p14:creationId xmlns:p14="http://schemas.microsoft.com/office/powerpoint/2010/main" val="3548046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srcRect l="81251" t="18333" r="10416" b="62500"/>
          <a:stretch>
            <a:fillRect/>
          </a:stretch>
        </p:blipFill>
        <p:spPr bwMode="auto">
          <a:xfrm>
            <a:off x="9840416" y="142852"/>
            <a:ext cx="684740" cy="765868"/>
          </a:xfrm>
          <a:prstGeom prst="rect">
            <a:avLst/>
          </a:prstGeom>
          <a:noFill/>
          <a:ln w="9525">
            <a:noFill/>
            <a:miter lim="800000"/>
            <a:headEnd/>
            <a:tailEnd/>
          </a:ln>
          <a:effectLst/>
        </p:spPr>
      </p:pic>
      <p:sp>
        <p:nvSpPr>
          <p:cNvPr id="6" name="عنصر نائب لرقم الشريحة 5"/>
          <p:cNvSpPr>
            <a:spLocks noGrp="1"/>
          </p:cNvSpPr>
          <p:nvPr>
            <p:ph type="sldNum" sz="quarter" idx="12"/>
          </p:nvPr>
        </p:nvSpPr>
        <p:spPr>
          <a:xfrm>
            <a:off x="9790272" y="6407945"/>
            <a:ext cx="365760" cy="365125"/>
          </a:xfrm>
          <a:prstGeom prst="rect">
            <a:avLst/>
          </a:prstGeom>
        </p:spPr>
        <p:txBody>
          <a:bodyPr vert="horz" anchor="b"/>
          <a:lstStyle>
            <a:defPPr>
              <a:defRPr lang="ar-SA"/>
            </a:defPPr>
            <a:lvl1pPr marL="0" algn="r" defTabSz="914400" rtl="1" eaLnBrk="1" latinLnBrk="0" hangingPunct="1">
              <a:defRPr kumimoji="0" sz="1000" b="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0B34F065-1154-456A-91E3-76DE8E75E17B}" type="slidenum">
              <a:rPr lang="ar-SA">
                <a:solidFill>
                  <a:prstClr val="black"/>
                </a:solidFill>
                <a:latin typeface="Aptos" panose="02110004020202020204"/>
                <a:cs typeface="Arial" panose="020B0604020202020204" pitchFamily="34" charset="0"/>
              </a:rPr>
              <a:pPr/>
              <a:t>5</a:t>
            </a:fld>
            <a:endParaRPr lang="ar-SA" dirty="0">
              <a:solidFill>
                <a:prstClr val="black"/>
              </a:solidFill>
              <a:latin typeface="Aptos" panose="02110004020202020204"/>
              <a:cs typeface="Arial" panose="020B0604020202020204" pitchFamily="34" charset="0"/>
            </a:endParaRPr>
          </a:p>
        </p:txBody>
      </p:sp>
      <p:sp>
        <p:nvSpPr>
          <p:cNvPr id="11" name="Rectangle 3"/>
          <p:cNvSpPr>
            <a:spLocks noChangeArrowheads="1"/>
          </p:cNvSpPr>
          <p:nvPr/>
        </p:nvSpPr>
        <p:spPr bwMode="auto">
          <a:xfrm>
            <a:off x="1652218" y="4356395"/>
            <a:ext cx="8424936" cy="584775"/>
          </a:xfrm>
          <a:prstGeom prst="rect">
            <a:avLst/>
          </a:prstGeom>
          <a:noFill/>
          <a:ln w="9525">
            <a:noFill/>
            <a:miter lim="800000"/>
            <a:headEnd/>
            <a:tailEnd/>
          </a:ln>
        </p:spPr>
        <p:txBody>
          <a:bodyPr wrap="square" anchor="ctr">
            <a:spAutoFit/>
          </a:bodyPr>
          <a:ls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algn="justLow" eaLnBrk="0" hangingPunct="0"/>
            <a:r>
              <a:rPr lang="ar-SA" sz="3200" b="1" dirty="0">
                <a:solidFill>
                  <a:prstClr val="black"/>
                </a:solidFill>
                <a:latin typeface="Berlin Sans FB Demi" pitchFamily="34" charset="0"/>
                <a:cs typeface="Arial" panose="020B0604020202020204" pitchFamily="34" charset="0"/>
              </a:rPr>
              <a:t> </a:t>
            </a:r>
          </a:p>
        </p:txBody>
      </p:sp>
      <p:sp>
        <p:nvSpPr>
          <p:cNvPr id="8" name="Title 5"/>
          <p:cNvSpPr txBox="1">
            <a:spLocks/>
          </p:cNvSpPr>
          <p:nvPr/>
        </p:nvSpPr>
        <p:spPr>
          <a:xfrm>
            <a:off x="2209800" y="1844825"/>
            <a:ext cx="7772400" cy="3024336"/>
          </a:xfrm>
          <a:prstGeom prst="rect">
            <a:avLst/>
          </a:prstGeom>
        </p:spPr>
        <p:txBody>
          <a:bodyPr>
            <a:normAutofit/>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marL="342900" indent="-342900" algn="ctr" defTabSz="457200" eaLnBrk="0" fontAlgn="base" hangingPunct="0">
              <a:spcBef>
                <a:spcPct val="20000"/>
              </a:spcBef>
              <a:spcAft>
                <a:spcPct val="0"/>
              </a:spcAft>
              <a:defRPr/>
            </a:pPr>
            <a:endParaRPr lang="ar-SA" sz="3200" kern="0" dirty="0">
              <a:solidFill>
                <a:prstClr val="black"/>
              </a:solidFill>
              <a:effectLst>
                <a:outerShdw blurRad="38100" dist="38100" dir="2700000" algn="tl">
                  <a:srgbClr val="C0C0C0"/>
                </a:outerShdw>
              </a:effectLst>
              <a:latin typeface="Arial"/>
              <a:cs typeface="Arial" panose="020B0604020202020204" pitchFamily="34" charset="0"/>
            </a:endParaRPr>
          </a:p>
          <a:p>
            <a:pPr marL="342900" indent="-342900" algn="ctr" defTabSz="457200" eaLnBrk="0" fontAlgn="base" hangingPunct="0">
              <a:spcBef>
                <a:spcPct val="20000"/>
              </a:spcBef>
              <a:spcAft>
                <a:spcPct val="0"/>
              </a:spcAft>
              <a:defRPr/>
            </a:pPr>
            <a:endParaRPr lang="ar-SA" sz="3200" kern="0" dirty="0">
              <a:solidFill>
                <a:prstClr val="black"/>
              </a:solidFill>
              <a:effectLst>
                <a:outerShdw blurRad="38100" dist="38100" dir="2700000" algn="tl">
                  <a:srgbClr val="C0C0C0"/>
                </a:outerShdw>
              </a:effectLst>
              <a:latin typeface="Arial"/>
              <a:cs typeface="Arial" panose="020B0604020202020204" pitchFamily="34" charset="0"/>
            </a:endParaRPr>
          </a:p>
        </p:txBody>
      </p:sp>
      <p:sp>
        <p:nvSpPr>
          <p:cNvPr id="2" name="Rectangle 1"/>
          <p:cNvSpPr/>
          <p:nvPr/>
        </p:nvSpPr>
        <p:spPr>
          <a:xfrm>
            <a:off x="5015880" y="764706"/>
            <a:ext cx="2160240" cy="646331"/>
          </a:xfrm>
          <a:prstGeom prst="rect">
            <a:avLst/>
          </a:prstGeom>
        </p:spPr>
        <p:txBody>
          <a:bodyPr wrap="square">
            <a:spAutoFit/>
          </a:bodyPr>
          <a:lstStyle/>
          <a:p>
            <a:pPr defTabSz="457200"/>
            <a:r>
              <a:rPr lang="ar-SA" sz="3600" b="1" dirty="0">
                <a:solidFill>
                  <a:srgbClr val="FF0000"/>
                </a:solidFill>
                <a:latin typeface="Arial" panose="020B0604020202020204" pitchFamily="34" charset="0"/>
                <a:cs typeface="Arial" panose="020B0604020202020204" pitchFamily="34" charset="0"/>
              </a:rPr>
              <a:t>الفصل الأول </a:t>
            </a:r>
            <a:endParaRPr lang="ar-SA" sz="3600" b="1" dirty="0">
              <a:solidFill>
                <a:prstClr val="black"/>
              </a:solidFill>
              <a:latin typeface="Arial" panose="020B0604020202020204" pitchFamily="34" charset="0"/>
              <a:cs typeface="Arial" panose="020B0604020202020204" pitchFamily="34" charset="0"/>
            </a:endParaRPr>
          </a:p>
        </p:txBody>
      </p:sp>
      <p:sp>
        <p:nvSpPr>
          <p:cNvPr id="5" name="مربع نص 4">
            <a:extLst>
              <a:ext uri="{FF2B5EF4-FFF2-40B4-BE49-F238E27FC236}">
                <a16:creationId xmlns:a16="http://schemas.microsoft.com/office/drawing/2014/main" id="{D4F58739-14EE-0035-A35C-2DF6C0BC68E4}"/>
              </a:ext>
            </a:extLst>
          </p:cNvPr>
          <p:cNvSpPr txBox="1"/>
          <p:nvPr/>
        </p:nvSpPr>
        <p:spPr>
          <a:xfrm>
            <a:off x="1320800" y="2864769"/>
            <a:ext cx="7247466" cy="577850"/>
          </a:xfrm>
          <a:prstGeom prst="rect">
            <a:avLst/>
          </a:prstGeom>
          <a:noFill/>
        </p:spPr>
        <p:txBody>
          <a:bodyPr wrap="square">
            <a:spAutoFit/>
          </a:bodyPr>
          <a:lstStyle/>
          <a:p>
            <a:pPr algn="ctr">
              <a:lnSpc>
                <a:spcPct val="150000"/>
              </a:lnSpc>
              <a:defRPr/>
            </a:pPr>
            <a:r>
              <a:rPr lang="ar-SA" sz="2400" dirty="0"/>
              <a:t>تطور محاسبة التكاليف واهميتها في المشاريع</a:t>
            </a:r>
            <a:endParaRPr lang="ar-SA" sz="2400" b="1" kern="1200" dirty="0">
              <a:solidFill>
                <a:srgbClr val="009900"/>
              </a:solidFill>
              <a:latin typeface="+mn-lt"/>
              <a:ea typeface="+mn-ea"/>
              <a:cs typeface="+mn-cs"/>
            </a:endParaRP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79A3C3ED-E369-D337-E160-C4C91C0E5495}"/>
              </a:ext>
            </a:extLst>
          </p:cNvPr>
          <p:cNvSpPr txBox="1"/>
          <p:nvPr/>
        </p:nvSpPr>
        <p:spPr>
          <a:xfrm>
            <a:off x="1320282" y="2690336"/>
            <a:ext cx="9260632" cy="3216137"/>
          </a:xfrm>
          <a:prstGeom prst="rect">
            <a:avLst/>
          </a:prstGeom>
          <a:noFill/>
        </p:spPr>
        <p:txBody>
          <a:bodyPr wrap="square">
            <a:spAutoFit/>
          </a:bodyPr>
          <a:lstStyle/>
          <a:p>
            <a:pPr algn="r">
              <a:spcBef>
                <a:spcPts val="2700"/>
              </a:spcBef>
              <a:spcAft>
                <a:spcPts val="1200"/>
              </a:spcAft>
            </a:pPr>
            <a:r>
              <a:rPr lang="ar-JO" b="1" i="0" dirty="0">
                <a:solidFill>
                  <a:srgbClr val="0B143A"/>
                </a:solidFill>
                <a:effectLst/>
                <a:latin typeface="LamaSans"/>
              </a:rPr>
              <a:t> نبذة تاريخية عن محاسبة التكاليف</a:t>
            </a:r>
          </a:p>
          <a:p>
            <a:pPr algn="r">
              <a:lnSpc>
                <a:spcPct val="200000"/>
              </a:lnSpc>
            </a:pPr>
            <a:r>
              <a:rPr lang="ar-JO" b="0" i="0" dirty="0">
                <a:solidFill>
                  <a:srgbClr val="374151"/>
                </a:solidFill>
                <a:effectLst/>
                <a:latin typeface="LamaSans"/>
              </a:rPr>
              <a:t>ظهرت محاسبة التكاليف بشكلها الأولي مع بدايات الثورة الصناعية في أوروبا، عندما بدأت المصانع تبحث عن وسيلة لفهم تكاليف الإنتاج بدقة.</a:t>
            </a:r>
            <a:br>
              <a:rPr lang="ar-JO" dirty="0"/>
            </a:br>
            <a:r>
              <a:rPr lang="ar-JO" b="0" i="0" dirty="0">
                <a:solidFill>
                  <a:srgbClr val="374151"/>
                </a:solidFill>
                <a:effectLst/>
                <a:latin typeface="LamaSans"/>
              </a:rPr>
              <a:t>وفي القرن التاسع عشر، ساعدت التطورات الصناعية في بريطانيا وألمانيا على تطوير أساليب تسجيل وتحليل التكاليف. ومع بداية القرن العشرين، أصبحت محاسبة التكاليف أداة أساسية في الإدارة الصناعية، خاصة مع ظهور مفاهيم مثل التكاليف القياسية و </a:t>
            </a:r>
            <a:r>
              <a:rPr lang="ar-JO" b="0" i="0" dirty="0" err="1">
                <a:solidFill>
                  <a:srgbClr val="374151"/>
                </a:solidFill>
                <a:effectLst/>
                <a:latin typeface="LamaSans"/>
              </a:rPr>
              <a:t>الميزنيات</a:t>
            </a:r>
            <a:r>
              <a:rPr lang="ar-JO" b="0" i="0" dirty="0">
                <a:solidFill>
                  <a:srgbClr val="374151"/>
                </a:solidFill>
                <a:effectLst/>
                <a:latin typeface="LamaSans"/>
              </a:rPr>
              <a:t>  التقديرية </a:t>
            </a:r>
            <a:endParaRPr lang="en-US" dirty="0"/>
          </a:p>
        </p:txBody>
      </p:sp>
    </p:spTree>
    <p:extLst>
      <p:ext uri="{BB962C8B-B14F-4D97-AF65-F5344CB8AC3E}">
        <p14:creationId xmlns:p14="http://schemas.microsoft.com/office/powerpoint/2010/main" val="2829258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19661-7C71-CB84-6C8A-0ED8AEA92EB0}"/>
              </a:ext>
            </a:extLst>
          </p:cNvPr>
          <p:cNvSpPr txBox="1">
            <a:spLocks/>
          </p:cNvSpPr>
          <p:nvPr/>
        </p:nvSpPr>
        <p:spPr>
          <a:xfrm>
            <a:off x="1600200" y="1481329"/>
            <a:ext cx="8229600" cy="452596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lnSpc>
                <a:spcPct val="150000"/>
              </a:lnSpc>
              <a:tabLst>
                <a:tab pos="8077200" algn="l"/>
              </a:tabLst>
            </a:pPr>
            <a:r>
              <a:rPr lang="ar-SA" dirty="0"/>
              <a:t>التطور الكبير في حجم المشروعات وطرق ووسائل الانتاج أدى الى ازدياد حاجة الادارة الى بيانات تحليلية عن عناصر التكاليف و الايرادات وهو </a:t>
            </a:r>
            <a:r>
              <a:rPr lang="ar-SA" dirty="0" err="1"/>
              <a:t>ما</a:t>
            </a:r>
            <a:r>
              <a:rPr lang="ar-SA" dirty="0" err="1">
                <a:solidFill>
                  <a:srgbClr val="FF0000"/>
                </a:solidFill>
              </a:rPr>
              <a:t>عجزت</a:t>
            </a:r>
            <a:r>
              <a:rPr lang="ar-SA" dirty="0"/>
              <a:t> عن تحقيقه المحاسبة المالية.</a:t>
            </a:r>
          </a:p>
          <a:p>
            <a:pPr marL="0" indent="0" algn="r" rtl="1">
              <a:lnSpc>
                <a:spcPct val="150000"/>
              </a:lnSpc>
              <a:tabLst>
                <a:tab pos="8077200" algn="l"/>
              </a:tabLst>
            </a:pPr>
            <a:r>
              <a:rPr lang="ar-SA" dirty="0"/>
              <a:t> ظهرت محاسبة التكاليف </a:t>
            </a:r>
            <a:r>
              <a:rPr lang="ar-SA" dirty="0" err="1"/>
              <a:t>كاحد</a:t>
            </a:r>
            <a:r>
              <a:rPr lang="ar-SA" dirty="0"/>
              <a:t> فروع المحاسبة لتهتم :</a:t>
            </a:r>
          </a:p>
          <a:p>
            <a:pPr marL="0" indent="0" algn="r" rtl="1">
              <a:lnSpc>
                <a:spcPct val="150000"/>
              </a:lnSpc>
              <a:buFontTx/>
              <a:buNone/>
              <a:tabLst>
                <a:tab pos="8077200" algn="l"/>
              </a:tabLst>
            </a:pPr>
            <a:r>
              <a:rPr lang="ar-SA" dirty="0"/>
              <a:t>         - بتجميع عناصر التكاليف ومتابعة تدفقها</a:t>
            </a:r>
          </a:p>
          <a:p>
            <a:pPr marL="0" indent="0" algn="r" rtl="1">
              <a:lnSpc>
                <a:spcPct val="150000"/>
              </a:lnSpc>
              <a:buFontTx/>
              <a:buNone/>
              <a:tabLst>
                <a:tab pos="8077200" algn="l"/>
              </a:tabLst>
            </a:pPr>
            <a:r>
              <a:rPr lang="ar-SA" dirty="0"/>
              <a:t>         - تحليل و دراسة و تبويب عناصر التكاليف على أسس متعددة</a:t>
            </a:r>
          </a:p>
          <a:p>
            <a:pPr algn="r">
              <a:buNone/>
            </a:pPr>
            <a:endParaRPr lang="ar-SA" dirty="0">
              <a:solidFill>
                <a:prstClr val="black"/>
              </a:solidFill>
              <a:latin typeface="Aptos" panose="02110004020202020204"/>
              <a:cs typeface="Arial" panose="020B0604020202020204" pitchFamily="34" charset="0"/>
            </a:endParaRPr>
          </a:p>
          <a:p>
            <a:pPr algn="r">
              <a:buNone/>
            </a:pPr>
            <a:endParaRPr lang="ar-SA" dirty="0">
              <a:solidFill>
                <a:prstClr val="black"/>
              </a:solidFill>
              <a:latin typeface="Aptos" panose="02110004020202020204"/>
              <a:cs typeface="Arial" panose="020B0604020202020204" pitchFamily="34" charset="0"/>
            </a:endParaRPr>
          </a:p>
          <a:p>
            <a:pPr algn="r">
              <a:buNone/>
            </a:pPr>
            <a:endParaRPr lang="ar-SA" dirty="0">
              <a:solidFill>
                <a:prstClr val="black"/>
              </a:solidFill>
              <a:latin typeface="Aptos" panose="02110004020202020204"/>
              <a:cs typeface="Arial" panose="020B0604020202020204" pitchFamily="34" charset="0"/>
            </a:endParaRPr>
          </a:p>
          <a:p>
            <a:pPr algn="r">
              <a:buNone/>
            </a:pPr>
            <a:endParaRPr lang="en-US" dirty="0">
              <a:solidFill>
                <a:prstClr val="black"/>
              </a:solidFill>
              <a:latin typeface="Aptos" panose="02110004020202020204"/>
            </a:endParaRPr>
          </a:p>
        </p:txBody>
      </p:sp>
      <p:sp>
        <p:nvSpPr>
          <p:cNvPr id="3" name="Rectangle 2">
            <a:extLst>
              <a:ext uri="{FF2B5EF4-FFF2-40B4-BE49-F238E27FC236}">
                <a16:creationId xmlns:a16="http://schemas.microsoft.com/office/drawing/2014/main" id="{32B3B208-A9A5-3FBB-FD15-991A109DBA7A}"/>
              </a:ext>
            </a:extLst>
          </p:cNvPr>
          <p:cNvSpPr/>
          <p:nvPr/>
        </p:nvSpPr>
        <p:spPr>
          <a:xfrm>
            <a:off x="4295787" y="548681"/>
            <a:ext cx="2838426" cy="369332"/>
          </a:xfrm>
          <a:prstGeom prst="rect">
            <a:avLst/>
          </a:prstGeom>
        </p:spPr>
        <p:txBody>
          <a:bodyPr wrap="square">
            <a:spAutoFit/>
          </a:bodyPr>
          <a:lstStyle/>
          <a:p>
            <a:pPr defTabSz="457200"/>
            <a:r>
              <a:rPr lang="ar-SA" b="1" i="1" kern="0" dirty="0">
                <a:solidFill>
                  <a:srgbClr val="FF0000"/>
                </a:solidFill>
                <a:latin typeface="Comic Sans MS"/>
                <a:cs typeface="Arial" panose="020B0604020202020204" pitchFamily="34" charset="0"/>
              </a:rPr>
              <a:t>تطور محاسبة التكاليف    </a:t>
            </a:r>
            <a:endParaRPr lang="ar-SA" dirty="0">
              <a:solidFill>
                <a:srgbClr val="FF0000"/>
              </a:solidFill>
              <a:latin typeface="Aptos" panose="02110004020202020204"/>
              <a:cs typeface="Arial" panose="020B0604020202020204" pitchFamily="34" charset="0"/>
            </a:endParaRPr>
          </a:p>
        </p:txBody>
      </p:sp>
      <p:sp>
        <p:nvSpPr>
          <p:cNvPr id="4" name="Footer Placeholder 3">
            <a:extLst>
              <a:ext uri="{FF2B5EF4-FFF2-40B4-BE49-F238E27FC236}">
                <a16:creationId xmlns:a16="http://schemas.microsoft.com/office/drawing/2014/main" id="{A9C684B3-488D-690C-703D-94B724511ACC}"/>
              </a:ext>
            </a:extLst>
          </p:cNvPr>
          <p:cNvSpPr txBox="1">
            <a:spLocks/>
          </p:cNvSpPr>
          <p:nvPr/>
        </p:nvSpPr>
        <p:spPr>
          <a:xfrm>
            <a:off x="5787008" y="6407945"/>
            <a:ext cx="288032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ar-SA" sz="1200" dirty="0">
              <a:solidFill>
                <a:prstClr val="black"/>
              </a:solidFill>
              <a:latin typeface="Aptos" panose="02110004020202020204"/>
              <a:cs typeface="Arial" panose="020B0604020202020204" pitchFamily="34" charset="0"/>
            </a:endParaRPr>
          </a:p>
        </p:txBody>
      </p:sp>
    </p:spTree>
    <p:extLst>
      <p:ext uri="{BB962C8B-B14F-4D97-AF65-F5344CB8AC3E}">
        <p14:creationId xmlns:p14="http://schemas.microsoft.com/office/powerpoint/2010/main" val="33383904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Grp="1" noChangeArrowheads="1"/>
          </p:cNvSpPr>
          <p:nvPr>
            <p:ph type="title"/>
          </p:nvPr>
        </p:nvSpPr>
        <p:spPr bwMode="auto">
          <a:xfrm>
            <a:off x="1981200" y="274638"/>
            <a:ext cx="8229600" cy="939784"/>
          </a:xfrm>
          <a:prstGeom prst="rect">
            <a:avLst/>
          </a:prstGeom>
          <a:noFill/>
          <a:ln w="63500">
            <a:noFill/>
            <a:miter lim="800000"/>
            <a:headEnd/>
            <a:tailEnd/>
          </a:ln>
          <a:effectLst/>
        </p:spPr>
        <p:txBody>
          <a:bodyPr vert="horz" wrap="square" lIns="92075" tIns="46038" rIns="92075" bIns="46038" numCol="1" rtlCol="0" anchor="ctr" anchorCtr="0" compatLnSpc="1">
            <a:prstTxWarp prst="textNoShape">
              <a:avLst/>
            </a:prstTxWarp>
            <a:normAutofit/>
          </a:bodyPr>
          <a:lstStyle/>
          <a:p>
            <a:pPr marL="0" marR="0" lvl="0" indent="0" algn="ctr" defTabSz="457200" rtl="0" eaLnBrk="1" fontAlgn="auto" latinLnBrk="0" hangingPunct="1">
              <a:lnSpc>
                <a:spcPct val="100000"/>
              </a:lnSpc>
              <a:spcBef>
                <a:spcPts val="0"/>
              </a:spcBef>
              <a:spcAft>
                <a:spcPts val="0"/>
              </a:spcAft>
              <a:tabLst/>
              <a:defRPr/>
            </a:pPr>
            <a:r>
              <a:rPr kumimoji="0" lang="ar-SA" sz="1800" b="1" i="1" u="none" strike="noStrike" kern="0" cap="none" spc="0" normalizeH="0" baseline="0" noProof="0" dirty="0">
                <a:ln>
                  <a:noFill/>
                </a:ln>
                <a:solidFill>
                  <a:srgbClr val="FF0000"/>
                </a:solidFill>
                <a:effectLst/>
                <a:uLnTx/>
                <a:uFillTx/>
                <a:latin typeface="Comic Sans MS"/>
                <a:ea typeface="+mn-ea"/>
                <a:cs typeface="Arial" panose="020B0604020202020204" pitchFamily="34" charset="0"/>
              </a:rPr>
              <a:t>تطور محاسبة التكاليف    </a:t>
            </a:r>
            <a:br>
              <a:rPr kumimoji="0" lang="ar-SA" sz="1800" b="0" i="0" u="none" strike="noStrike" kern="1200" cap="none" spc="0" normalizeH="0" baseline="0" noProof="0" dirty="0">
                <a:ln>
                  <a:noFill/>
                </a:ln>
                <a:solidFill>
                  <a:srgbClr val="FF0000"/>
                </a:solidFill>
                <a:effectLst/>
                <a:uLnTx/>
                <a:uFillTx/>
                <a:latin typeface="Aptos" panose="02110004020202020204"/>
                <a:ea typeface="+mn-ea"/>
                <a:cs typeface="Arial" panose="020B0604020202020204" pitchFamily="34" charset="0"/>
              </a:rPr>
            </a:br>
            <a:endParaRPr lang="en-US" sz="3200" b="1" i="1" kern="0" dirty="0">
              <a:solidFill>
                <a:srgbClr val="FF0000"/>
              </a:solidFill>
              <a:latin typeface="Comic Sans MS"/>
            </a:endParaRPr>
          </a:p>
        </p:txBody>
      </p:sp>
      <p:sp>
        <p:nvSpPr>
          <p:cNvPr id="3" name="Content Placeholder 2"/>
          <p:cNvSpPr>
            <a:spLocks noGrp="1"/>
          </p:cNvSpPr>
          <p:nvPr>
            <p:ph idx="1"/>
          </p:nvPr>
        </p:nvSpPr>
        <p:spPr>
          <a:xfrm>
            <a:off x="1196522" y="1426751"/>
            <a:ext cx="9798956" cy="4768865"/>
          </a:xfrm>
        </p:spPr>
        <p:txBody>
          <a:bodyPr>
            <a:normAutofit/>
          </a:bodyPr>
          <a:lstStyle/>
          <a:p>
            <a:pPr marL="0" indent="0" algn="r" rtl="1">
              <a:lnSpc>
                <a:spcPct val="150000"/>
              </a:lnSpc>
              <a:tabLst>
                <a:tab pos="8077200" algn="l"/>
              </a:tabLst>
            </a:pPr>
            <a:r>
              <a:rPr lang="ar-SA" dirty="0"/>
              <a:t>مرت محاسبة التكاليف بعدة مراحل نظرا لتطور:</a:t>
            </a:r>
          </a:p>
          <a:p>
            <a:pPr marL="0" indent="0" algn="r" rtl="1">
              <a:lnSpc>
                <a:spcPct val="150000"/>
              </a:lnSpc>
              <a:tabLst>
                <a:tab pos="8077200" algn="l"/>
              </a:tabLst>
            </a:pPr>
            <a:r>
              <a:rPr lang="ar-SA" dirty="0"/>
              <a:t>   - شكل و حجم البيانات المطلوبة</a:t>
            </a:r>
          </a:p>
          <a:p>
            <a:pPr marL="0" indent="0" algn="r" rtl="1">
              <a:lnSpc>
                <a:spcPct val="150000"/>
              </a:lnSpc>
              <a:tabLst>
                <a:tab pos="8077200" algn="l"/>
              </a:tabLst>
            </a:pPr>
            <a:r>
              <a:rPr lang="ar-SA" dirty="0"/>
              <a:t>   - درجة التحليل المطلوبة و الفترة التي تغطيها</a:t>
            </a:r>
          </a:p>
          <a:p>
            <a:pPr marL="0" indent="0" algn="r" rtl="1">
              <a:lnSpc>
                <a:spcPct val="150000"/>
              </a:lnSpc>
              <a:tabLst>
                <a:tab pos="8077200" algn="l"/>
              </a:tabLst>
            </a:pPr>
            <a:r>
              <a:rPr lang="ar-SA" dirty="0"/>
              <a:t>   - نوعية البيانات (تاريخية او محددة مسبقا)</a:t>
            </a:r>
          </a:p>
          <a:p>
            <a:pPr marL="0" indent="0" algn="r" rtl="1">
              <a:lnSpc>
                <a:spcPct val="150000"/>
              </a:lnSpc>
              <a:tabLst>
                <a:tab pos="8077200" algn="l"/>
              </a:tabLst>
            </a:pPr>
            <a:r>
              <a:rPr lang="ar-SA" dirty="0"/>
              <a:t>   - مستخدم البيانات (المستثمر ام مهندس الانتاج ام الادارة)</a:t>
            </a:r>
          </a:p>
          <a:p>
            <a:pPr marL="0" indent="0" algn="r" rtl="1">
              <a:buNone/>
            </a:pPr>
            <a:endParaRPr lang="en-US" dirty="0"/>
          </a:p>
        </p:txBody>
      </p:sp>
      <p:sp>
        <p:nvSpPr>
          <p:cNvPr id="5" name="Slide Number Placeholder 4"/>
          <p:cNvSpPr>
            <a:spLocks noGrp="1"/>
          </p:cNvSpPr>
          <p:nvPr>
            <p:ph type="sldNum" sz="quarter" idx="12"/>
          </p:nvPr>
        </p:nvSpPr>
        <p:spPr/>
        <p:txBody>
          <a:bodyPr/>
          <a:lstStyle/>
          <a:p>
            <a:pPr defTabSz="457200"/>
            <a:fld id="{0B34F065-1154-456A-91E3-76DE8E75E17B}" type="slidenum">
              <a:rPr lang="ar-SA">
                <a:solidFill>
                  <a:prstClr val="black">
                    <a:tint val="75000"/>
                  </a:prstClr>
                </a:solidFill>
                <a:latin typeface="Aptos" panose="02110004020202020204"/>
                <a:cs typeface="Arial" panose="020B0604020202020204" pitchFamily="34" charset="0"/>
              </a:rPr>
              <a:pPr defTabSz="457200"/>
              <a:t>8</a:t>
            </a:fld>
            <a:endParaRPr lang="ar-SA">
              <a:solidFill>
                <a:prstClr val="black">
                  <a:tint val="75000"/>
                </a:prstClr>
              </a:solidFill>
              <a:latin typeface="Aptos" panose="02110004020202020204"/>
              <a:cs typeface="Arial" panose="020B0604020202020204" pitchFamily="34" charset="0"/>
            </a:endParaRPr>
          </a:p>
        </p:txBody>
      </p:sp>
      <p:sp>
        <p:nvSpPr>
          <p:cNvPr id="7" name="Footer Placeholder 3"/>
          <p:cNvSpPr>
            <a:spLocks noGrp="1"/>
          </p:cNvSpPr>
          <p:nvPr>
            <p:ph type="ftr" sz="quarter" idx="11"/>
          </p:nvPr>
        </p:nvSpPr>
        <p:spPr>
          <a:xfrm>
            <a:off x="6168008" y="6407946"/>
            <a:ext cx="2880320" cy="365125"/>
          </a:xfrm>
        </p:spPr>
        <p:txBody>
          <a:bodyPr/>
          <a:lstStyle/>
          <a:p>
            <a:pPr defTabSz="457200"/>
            <a:endParaRPr lang="ar-SA" sz="1200" dirty="0">
              <a:solidFill>
                <a:prstClr val="black"/>
              </a:solidFill>
              <a:latin typeface="Aptos" panose="02110004020202020204"/>
              <a:cs typeface="Arial" panose="020B0604020202020204" pitchFamily="34" charset="0"/>
            </a:endParaRPr>
          </a:p>
        </p:txBody>
      </p:sp>
    </p:spTree>
    <p:extLst>
      <p:ext uri="{BB962C8B-B14F-4D97-AF65-F5344CB8AC3E}">
        <p14:creationId xmlns:p14="http://schemas.microsoft.com/office/powerpoint/2010/main" val="819259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1A23208F-826B-76FE-486F-364CEF9A8EC5}"/>
              </a:ext>
            </a:extLst>
          </p:cNvPr>
          <p:cNvSpPr>
            <a:spLocks noGrp="1"/>
          </p:cNvSpPr>
          <p:nvPr>
            <p:ph idx="1"/>
          </p:nvPr>
        </p:nvSpPr>
        <p:spPr/>
        <p:txBody>
          <a:bodyPr/>
          <a:lstStyle/>
          <a:p>
            <a:pPr marL="0" indent="0">
              <a:buNone/>
            </a:pPr>
            <a:endParaRPr lang="en-US" dirty="0"/>
          </a:p>
        </p:txBody>
      </p:sp>
      <p:sp>
        <p:nvSpPr>
          <p:cNvPr id="3" name="عنوان 2">
            <a:extLst>
              <a:ext uri="{FF2B5EF4-FFF2-40B4-BE49-F238E27FC236}">
                <a16:creationId xmlns:a16="http://schemas.microsoft.com/office/drawing/2014/main" id="{4311FF23-24DA-43BD-320B-81A565F1E18B}"/>
              </a:ext>
            </a:extLst>
          </p:cNvPr>
          <p:cNvSpPr>
            <a:spLocks noGrp="1"/>
          </p:cNvSpPr>
          <p:nvPr>
            <p:ph type="title"/>
          </p:nvPr>
        </p:nvSpPr>
        <p:spPr/>
        <p:txBody>
          <a:bodyPr/>
          <a:lstStyle/>
          <a:p>
            <a:r>
              <a:rPr kumimoji="0" lang="ar-JO" sz="1800" b="1" i="0" u="none" strike="noStrike" kern="1200" cap="none" spc="0" normalizeH="0" baseline="0" noProof="0" dirty="0">
                <a:ln>
                  <a:noFill/>
                </a:ln>
                <a:solidFill>
                  <a:srgbClr val="374151"/>
                </a:solidFill>
                <a:effectLst/>
                <a:uLnTx/>
                <a:uFillTx/>
                <a:latin typeface="LamaSans"/>
                <a:ea typeface="+mn-ea"/>
                <a:cs typeface="Arial" panose="020B0604020202020204" pitchFamily="34" charset="0"/>
              </a:rPr>
              <a:t>محاسبة</a:t>
            </a:r>
            <a:endParaRPr lang="en-US" dirty="0"/>
          </a:p>
        </p:txBody>
      </p:sp>
      <p:sp>
        <p:nvSpPr>
          <p:cNvPr id="5" name="مربع نص 4">
            <a:extLst>
              <a:ext uri="{FF2B5EF4-FFF2-40B4-BE49-F238E27FC236}">
                <a16:creationId xmlns:a16="http://schemas.microsoft.com/office/drawing/2014/main" id="{D6C01E54-0CB9-1476-9226-FBE53B3BE029}"/>
              </a:ext>
            </a:extLst>
          </p:cNvPr>
          <p:cNvSpPr txBox="1"/>
          <p:nvPr/>
        </p:nvSpPr>
        <p:spPr>
          <a:xfrm>
            <a:off x="1320282" y="923454"/>
            <a:ext cx="10168566" cy="2785250"/>
          </a:xfrm>
          <a:prstGeom prst="rect">
            <a:avLst/>
          </a:prstGeom>
          <a:noFill/>
        </p:spPr>
        <p:txBody>
          <a:bodyPr wrap="square">
            <a:spAutoFit/>
          </a:bodyPr>
          <a:lstStyle/>
          <a:p>
            <a:pPr algn="r">
              <a:lnSpc>
                <a:spcPct val="200000"/>
              </a:lnSpc>
            </a:pPr>
            <a:r>
              <a:rPr lang="ar-JO" b="1" i="0" dirty="0">
                <a:solidFill>
                  <a:srgbClr val="374151"/>
                </a:solidFill>
                <a:effectLst/>
                <a:latin typeface="LamaSans"/>
              </a:rPr>
              <a:t>محاسبة التكاليف )</a:t>
            </a:r>
            <a:r>
              <a:rPr lang="en-US" b="1" i="0" dirty="0">
                <a:solidFill>
                  <a:srgbClr val="374151"/>
                </a:solidFill>
                <a:effectLst/>
                <a:latin typeface="LamaSans"/>
              </a:rPr>
              <a:t>Cost Accounting)</a:t>
            </a:r>
            <a:r>
              <a:rPr lang="en-US" b="0" i="0" dirty="0">
                <a:solidFill>
                  <a:srgbClr val="374151"/>
                </a:solidFill>
                <a:effectLst/>
                <a:latin typeface="LamaSans"/>
              </a:rPr>
              <a:t> </a:t>
            </a:r>
            <a:endParaRPr lang="ar-JO" b="0" i="0" dirty="0">
              <a:solidFill>
                <a:srgbClr val="374151"/>
              </a:solidFill>
              <a:effectLst/>
              <a:latin typeface="LamaSans"/>
            </a:endParaRPr>
          </a:p>
          <a:p>
            <a:pPr algn="r">
              <a:lnSpc>
                <a:spcPct val="200000"/>
              </a:lnSpc>
            </a:pPr>
            <a:r>
              <a:rPr lang="ar-JO" b="0" i="0" dirty="0">
                <a:solidFill>
                  <a:srgbClr val="374151"/>
                </a:solidFill>
                <a:effectLst/>
                <a:latin typeface="LamaSans"/>
              </a:rPr>
              <a:t>هي فرع من فروع المحاسبة يُعنى بتحديد وتسجيل وتحليل تكاليف العمليات والمنتجات والخدمات داخل المنشأة، بهدف مساعدة الإدارة في التخطيط والرقابة واتخاذ قرارات استراتيجية.</a:t>
            </a:r>
            <a:br>
              <a:rPr lang="ar-JO" dirty="0"/>
            </a:br>
            <a:r>
              <a:rPr lang="ar-JO" b="0" i="0" dirty="0">
                <a:solidFill>
                  <a:srgbClr val="374151"/>
                </a:solidFill>
                <a:effectLst/>
                <a:latin typeface="LamaSans"/>
              </a:rPr>
              <a:t>تقوم محاسبة التكاليف بجمع البيانات من مختلف أقسام المؤسسة، وتحويلها إلى معلومات دقيقة توضح تكلفة كل نشاط أو وحدة إنتاج، مما يسهم في تسعير المنتجات بكفاءة وتقليل الهدر وتعظيم الأرباح.</a:t>
            </a:r>
            <a:endParaRPr lang="en-US" dirty="0"/>
          </a:p>
        </p:txBody>
      </p:sp>
    </p:spTree>
    <p:extLst>
      <p:ext uri="{BB962C8B-B14F-4D97-AF65-F5344CB8AC3E}">
        <p14:creationId xmlns:p14="http://schemas.microsoft.com/office/powerpoint/2010/main" val="2836997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1749B457-5A56-0802-0CB7-7AC7398B9FE7}"/>
              </a:ext>
            </a:extLst>
          </p:cNvPr>
          <p:cNvSpPr>
            <a:spLocks noGrp="1"/>
          </p:cNvSpPr>
          <p:nvPr>
            <p:ph idx="1"/>
          </p:nvPr>
        </p:nvSpPr>
        <p:spPr/>
        <p:txBody>
          <a:bodyPr/>
          <a:lstStyle/>
          <a:p>
            <a:endParaRPr lang="en-US"/>
          </a:p>
        </p:txBody>
      </p:sp>
      <p:sp>
        <p:nvSpPr>
          <p:cNvPr id="3" name="عنوان 2">
            <a:extLst>
              <a:ext uri="{FF2B5EF4-FFF2-40B4-BE49-F238E27FC236}">
                <a16:creationId xmlns:a16="http://schemas.microsoft.com/office/drawing/2014/main" id="{0512FE7B-C727-4436-9805-F95E3C71DD71}"/>
              </a:ext>
            </a:extLst>
          </p:cNvPr>
          <p:cNvSpPr>
            <a:spLocks noGrp="1"/>
          </p:cNvSpPr>
          <p:nvPr>
            <p:ph type="title"/>
          </p:nvPr>
        </p:nvSpPr>
        <p:spPr/>
        <p:txBody>
          <a:bodyPr/>
          <a:lstStyle/>
          <a:p>
            <a:endParaRPr lang="en-US"/>
          </a:p>
        </p:txBody>
      </p:sp>
      <p:sp>
        <p:nvSpPr>
          <p:cNvPr id="5" name="مربع نص 4">
            <a:extLst>
              <a:ext uri="{FF2B5EF4-FFF2-40B4-BE49-F238E27FC236}">
                <a16:creationId xmlns:a16="http://schemas.microsoft.com/office/drawing/2014/main" id="{C371F966-72E1-CA5D-A740-E86B3B2BC000}"/>
              </a:ext>
            </a:extLst>
          </p:cNvPr>
          <p:cNvSpPr txBox="1"/>
          <p:nvPr/>
        </p:nvSpPr>
        <p:spPr>
          <a:xfrm>
            <a:off x="1320281" y="139960"/>
            <a:ext cx="10492273" cy="5001369"/>
          </a:xfrm>
          <a:prstGeom prst="rect">
            <a:avLst/>
          </a:prstGeom>
          <a:noFill/>
        </p:spPr>
        <p:txBody>
          <a:bodyPr wrap="square">
            <a:spAutoFit/>
          </a:bodyPr>
          <a:lstStyle/>
          <a:p>
            <a:pPr algn="r">
              <a:spcBef>
                <a:spcPts val="2700"/>
              </a:spcBef>
              <a:spcAft>
                <a:spcPts val="1200"/>
              </a:spcAft>
            </a:pPr>
            <a:r>
              <a:rPr lang="ar-JO" b="1" i="0" dirty="0">
                <a:solidFill>
                  <a:srgbClr val="0B143A"/>
                </a:solidFill>
                <a:effectLst/>
                <a:latin typeface="LamaSans"/>
              </a:rPr>
              <a:t>أهداف محاسبة التكاليف</a:t>
            </a:r>
          </a:p>
          <a:p>
            <a:pPr algn="r"/>
            <a:r>
              <a:rPr lang="ar-JO" b="0" i="0" dirty="0">
                <a:solidFill>
                  <a:srgbClr val="374151"/>
                </a:solidFill>
                <a:effectLst/>
                <a:latin typeface="LamaSans"/>
              </a:rPr>
              <a:t>تمثل محاسبة التكاليف أداة استراتيجية للإدارة، تتجاوز مجرد تسجيل الأرقام، لتمنح المؤسسات القدرة على الفهم والتحكم والتوجيه. ومن أبرز أهدافها:</a:t>
            </a:r>
          </a:p>
          <a:p>
            <a:pPr algn="r">
              <a:spcBef>
                <a:spcPts val="2100"/>
              </a:spcBef>
              <a:spcAft>
                <a:spcPts val="900"/>
              </a:spcAft>
            </a:pPr>
            <a:r>
              <a:rPr lang="ar-JO" b="1" i="0" dirty="0">
                <a:solidFill>
                  <a:srgbClr val="0B143A"/>
                </a:solidFill>
                <a:effectLst/>
                <a:latin typeface="LamaSans"/>
              </a:rPr>
              <a:t>1. حساب تكلفة الوحدة</a:t>
            </a:r>
          </a:p>
          <a:p>
            <a:pPr algn="r"/>
            <a:r>
              <a:rPr lang="ar-JO" b="0" i="0" dirty="0">
                <a:solidFill>
                  <a:srgbClr val="374151"/>
                </a:solidFill>
                <a:effectLst/>
                <a:latin typeface="LamaSans"/>
              </a:rPr>
              <a:t>الهدف الأساسي لمحاسبة التكاليف هو معرفة </a:t>
            </a:r>
            <a:r>
              <a:rPr lang="ar-JO" b="1" i="0" dirty="0">
                <a:solidFill>
                  <a:srgbClr val="374151"/>
                </a:solidFill>
                <a:effectLst/>
                <a:latin typeface="LamaSans"/>
              </a:rPr>
              <a:t>التكلفة الحقيقية لكل وحدة إنتاج أو خدمة</a:t>
            </a:r>
            <a:r>
              <a:rPr lang="ar-JO" b="0" i="0" dirty="0">
                <a:solidFill>
                  <a:srgbClr val="374151"/>
                </a:solidFill>
                <a:effectLst/>
                <a:latin typeface="LamaSans"/>
              </a:rPr>
              <a:t>، سواء كانت منتجًا ماديًا أو نشاطًا خدميًا. هذا الحساب يشمل المواد المباشرة، والعمالة، والمصاريف الصناعية، مما يساعد في </a:t>
            </a:r>
            <a:r>
              <a:rPr lang="ar-JO" b="1" i="0" dirty="0">
                <a:solidFill>
                  <a:srgbClr val="374151"/>
                </a:solidFill>
                <a:effectLst/>
                <a:latin typeface="LamaSans"/>
              </a:rPr>
              <a:t>تسعير المنتجات بدقة</a:t>
            </a:r>
            <a:r>
              <a:rPr lang="ar-JO" b="0" i="0" dirty="0">
                <a:solidFill>
                  <a:srgbClr val="374151"/>
                </a:solidFill>
                <a:effectLst/>
                <a:latin typeface="LamaSans"/>
              </a:rPr>
              <a:t> وتحديد هامش الربح الحقيقي.</a:t>
            </a:r>
          </a:p>
          <a:p>
            <a:pPr algn="r">
              <a:spcBef>
                <a:spcPts val="2100"/>
              </a:spcBef>
              <a:spcAft>
                <a:spcPts val="900"/>
              </a:spcAft>
            </a:pPr>
            <a:r>
              <a:rPr lang="ar-JO" b="1" i="0" dirty="0">
                <a:solidFill>
                  <a:srgbClr val="0B143A"/>
                </a:solidFill>
                <a:effectLst/>
                <a:latin typeface="LamaSans"/>
              </a:rPr>
              <a:t>2. إعداد الميزانيات</a:t>
            </a:r>
          </a:p>
          <a:p>
            <a:pPr algn="r"/>
            <a:r>
              <a:rPr lang="ar-JO" b="0" i="0" dirty="0">
                <a:solidFill>
                  <a:srgbClr val="374151"/>
                </a:solidFill>
                <a:effectLst/>
                <a:latin typeface="LamaSans"/>
              </a:rPr>
              <a:t>من خلال تحليل التكاليف السابقة والمتوقعة، تسهم محاسبة التكاليف في </a:t>
            </a:r>
            <a:r>
              <a:rPr lang="ar-JO" b="1" i="0" dirty="0">
                <a:solidFill>
                  <a:srgbClr val="374151"/>
                </a:solidFill>
                <a:effectLst/>
                <a:latin typeface="LamaSans"/>
              </a:rPr>
              <a:t>إعداد موازنات تشغيلية ومالية دقيقة</a:t>
            </a:r>
            <a:r>
              <a:rPr lang="ar-JO" b="0" i="0" dirty="0">
                <a:solidFill>
                  <a:srgbClr val="374151"/>
                </a:solidFill>
                <a:effectLst/>
                <a:latin typeface="LamaSans"/>
              </a:rPr>
              <a:t>، تتيح للمؤسسة التخطيط للموارد وتقدير الأرباح والخسائر المستقبلية، مما يدعم التخطيط الاستراتيجي.</a:t>
            </a:r>
          </a:p>
          <a:p>
            <a:pPr algn="r">
              <a:spcBef>
                <a:spcPts val="2100"/>
              </a:spcBef>
              <a:spcAft>
                <a:spcPts val="900"/>
              </a:spcAft>
            </a:pPr>
            <a:r>
              <a:rPr lang="ar-JO" b="1" i="0" dirty="0">
                <a:solidFill>
                  <a:srgbClr val="0B143A"/>
                </a:solidFill>
                <a:effectLst/>
                <a:latin typeface="LamaSans"/>
              </a:rPr>
              <a:t>3. تحديد مصادر الإهدار</a:t>
            </a:r>
          </a:p>
          <a:p>
            <a:pPr algn="r"/>
            <a:r>
              <a:rPr lang="ar-JO" b="0" i="0" dirty="0">
                <a:solidFill>
                  <a:srgbClr val="374151"/>
                </a:solidFill>
                <a:effectLst/>
                <a:latin typeface="LamaSans"/>
              </a:rPr>
              <a:t>تعمل محاسبة التكاليف على </a:t>
            </a:r>
            <a:r>
              <a:rPr lang="ar-JO" b="1" i="0" dirty="0">
                <a:solidFill>
                  <a:srgbClr val="374151"/>
                </a:solidFill>
                <a:effectLst/>
                <a:latin typeface="LamaSans"/>
              </a:rPr>
              <a:t>كشف مواطن الهدر في العمليات الإنتاجية أو التشغيلية</a:t>
            </a:r>
            <a:r>
              <a:rPr lang="ar-JO" b="0" i="0" dirty="0">
                <a:solidFill>
                  <a:srgbClr val="374151"/>
                </a:solidFill>
                <a:effectLst/>
                <a:latin typeface="LamaSans"/>
              </a:rPr>
              <a:t>، سواء كانت في المواد الخام، أو الوقت، أو الطاقة. ومن ثم، تساعد في تحسين الكفاءة وخفض التكاليف غير الضرورية.</a:t>
            </a:r>
          </a:p>
          <a:p>
            <a:pPr algn="r"/>
            <a:endParaRPr lang="ar-JO" b="0" i="0" dirty="0">
              <a:solidFill>
                <a:srgbClr val="374151"/>
              </a:solidFill>
              <a:effectLst/>
              <a:latin typeface="LamaSans"/>
            </a:endParaRPr>
          </a:p>
        </p:txBody>
      </p:sp>
    </p:spTree>
    <p:extLst>
      <p:ext uri="{BB962C8B-B14F-4D97-AF65-F5344CB8AC3E}">
        <p14:creationId xmlns:p14="http://schemas.microsoft.com/office/powerpoint/2010/main" val="4241182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340C46FF-F95A-65DB-C2D1-480604EAD0F7}"/>
              </a:ext>
            </a:extLst>
          </p:cNvPr>
          <p:cNvSpPr>
            <a:spLocks noGrp="1"/>
          </p:cNvSpPr>
          <p:nvPr>
            <p:ph idx="1"/>
          </p:nvPr>
        </p:nvSpPr>
        <p:spPr/>
        <p:txBody>
          <a:bodyPr/>
          <a:lstStyle/>
          <a:p>
            <a:endParaRPr lang="en-US"/>
          </a:p>
        </p:txBody>
      </p:sp>
      <p:sp>
        <p:nvSpPr>
          <p:cNvPr id="3" name="عنوان 2">
            <a:extLst>
              <a:ext uri="{FF2B5EF4-FFF2-40B4-BE49-F238E27FC236}">
                <a16:creationId xmlns:a16="http://schemas.microsoft.com/office/drawing/2014/main" id="{EB3614B2-50F8-D0BE-066D-CAA1B3DD8CC9}"/>
              </a:ext>
            </a:extLst>
          </p:cNvPr>
          <p:cNvSpPr>
            <a:spLocks noGrp="1"/>
          </p:cNvSpPr>
          <p:nvPr>
            <p:ph type="title"/>
          </p:nvPr>
        </p:nvSpPr>
        <p:spPr/>
        <p:txBody>
          <a:bodyPr/>
          <a:lstStyle/>
          <a:p>
            <a:endParaRPr lang="en-US"/>
          </a:p>
        </p:txBody>
      </p:sp>
      <p:sp>
        <p:nvSpPr>
          <p:cNvPr id="5" name="مربع نص 4">
            <a:extLst>
              <a:ext uri="{FF2B5EF4-FFF2-40B4-BE49-F238E27FC236}">
                <a16:creationId xmlns:a16="http://schemas.microsoft.com/office/drawing/2014/main" id="{CB844929-D700-CB96-6E31-C5635A91959F}"/>
              </a:ext>
            </a:extLst>
          </p:cNvPr>
          <p:cNvSpPr txBox="1"/>
          <p:nvPr/>
        </p:nvSpPr>
        <p:spPr>
          <a:xfrm>
            <a:off x="1320282" y="884780"/>
            <a:ext cx="10259008" cy="4301177"/>
          </a:xfrm>
          <a:prstGeom prst="rect">
            <a:avLst/>
          </a:prstGeom>
          <a:noFill/>
        </p:spPr>
        <p:txBody>
          <a:bodyPr wrap="square">
            <a:spAutoFit/>
          </a:bodyPr>
          <a:lstStyle/>
          <a:p>
            <a:pPr algn="r">
              <a:spcBef>
                <a:spcPts val="2100"/>
              </a:spcBef>
              <a:spcAft>
                <a:spcPts val="900"/>
              </a:spcAft>
            </a:pPr>
            <a:r>
              <a:rPr lang="ar-JO" b="1" i="0" dirty="0">
                <a:solidFill>
                  <a:srgbClr val="0B143A"/>
                </a:solidFill>
                <a:effectLst/>
                <a:latin typeface="LamaSans"/>
              </a:rPr>
              <a:t>4. الرقابة على المخزون والعمال</a:t>
            </a:r>
          </a:p>
          <a:p>
            <a:pPr algn="r"/>
            <a:r>
              <a:rPr lang="ar-JO" b="0" i="0" dirty="0">
                <a:solidFill>
                  <a:srgbClr val="374151"/>
                </a:solidFill>
                <a:effectLst/>
                <a:latin typeface="LamaSans"/>
              </a:rPr>
              <a:t>توفر بيانات محاسبة التكاليف أدوات لمراقبة المخزون من المواد والمنتجات الجاهزة، وكذلك أداء العمال والإنتاجية، مما يعزز من </a:t>
            </a:r>
            <a:r>
              <a:rPr lang="ar-JO" b="1" i="0" dirty="0">
                <a:solidFill>
                  <a:srgbClr val="374151"/>
                </a:solidFill>
                <a:effectLst/>
                <a:latin typeface="LamaSans"/>
              </a:rPr>
              <a:t>الرقابة التشغيلية وضبط </a:t>
            </a:r>
            <a:r>
              <a:rPr lang="ar-JO" b="1" i="0" u="sng" dirty="0">
                <a:solidFill>
                  <a:srgbClr val="1B63FF"/>
                </a:solidFill>
                <a:effectLst/>
                <a:latin typeface="LamaSans"/>
                <a:hlinkClick r:id="rId2"/>
              </a:rPr>
              <a:t>الموارد البشرية</a:t>
            </a:r>
            <a:r>
              <a:rPr lang="ar-JO" b="1" i="0" dirty="0">
                <a:solidFill>
                  <a:srgbClr val="374151"/>
                </a:solidFill>
                <a:effectLst/>
                <a:latin typeface="LamaSans"/>
              </a:rPr>
              <a:t> والمادية</a:t>
            </a:r>
            <a:r>
              <a:rPr lang="ar-JO" b="0" i="0" dirty="0">
                <a:solidFill>
                  <a:srgbClr val="374151"/>
                </a:solidFill>
                <a:effectLst/>
                <a:latin typeface="LamaSans"/>
              </a:rPr>
              <a:t>.</a:t>
            </a:r>
          </a:p>
          <a:p>
            <a:pPr algn="r">
              <a:spcBef>
                <a:spcPts val="2100"/>
              </a:spcBef>
              <a:spcAft>
                <a:spcPts val="900"/>
              </a:spcAft>
            </a:pPr>
            <a:r>
              <a:rPr lang="ar-JO" b="1" i="0" dirty="0">
                <a:solidFill>
                  <a:srgbClr val="0B143A"/>
                </a:solidFill>
                <a:effectLst/>
                <a:latin typeface="LamaSans"/>
              </a:rPr>
              <a:t>5. تحديد أرباح المنتجات</a:t>
            </a:r>
          </a:p>
          <a:p>
            <a:pPr algn="r"/>
            <a:r>
              <a:rPr lang="ar-JO" b="0" i="0" dirty="0">
                <a:solidFill>
                  <a:srgbClr val="374151"/>
                </a:solidFill>
                <a:effectLst/>
                <a:latin typeface="LamaSans"/>
              </a:rPr>
              <a:t>من خلال تخصيص التكاليف لكل منتج أو قسم أو مشروع، يمكن للمؤسسة معرفة </a:t>
            </a:r>
            <a:r>
              <a:rPr lang="ar-JO" b="1" i="0" dirty="0">
                <a:solidFill>
                  <a:srgbClr val="374151"/>
                </a:solidFill>
                <a:effectLst/>
                <a:latin typeface="LamaSans"/>
              </a:rPr>
              <a:t>أي المنتجات تحقق أرباحًا فعلية وأيها يسبب خسائر</a:t>
            </a:r>
            <a:r>
              <a:rPr lang="ar-JO" b="0" i="0" dirty="0">
                <a:solidFill>
                  <a:srgbClr val="374151"/>
                </a:solidFill>
                <a:effectLst/>
                <a:latin typeface="LamaSans"/>
              </a:rPr>
              <a:t>، وبالتالي اتخاذ قرارات مدروسة بخصوص الإبقاء على خطوط الإنتاج أو تعديلها.</a:t>
            </a:r>
          </a:p>
          <a:p>
            <a:pPr algn="r">
              <a:spcBef>
                <a:spcPts val="2100"/>
              </a:spcBef>
              <a:spcAft>
                <a:spcPts val="900"/>
              </a:spcAft>
            </a:pPr>
            <a:r>
              <a:rPr lang="ar-JO" b="1" i="0" dirty="0">
                <a:solidFill>
                  <a:srgbClr val="0B143A"/>
                </a:solidFill>
                <a:effectLst/>
                <a:latin typeface="LamaSans"/>
              </a:rPr>
              <a:t>6. المساعدة في اتخاذ القرارات الإدارية</a:t>
            </a:r>
          </a:p>
          <a:p>
            <a:pPr algn="r"/>
            <a:r>
              <a:rPr lang="ar-JO" b="0" i="0" dirty="0">
                <a:solidFill>
                  <a:srgbClr val="374151"/>
                </a:solidFill>
                <a:effectLst/>
                <a:latin typeface="LamaSans"/>
              </a:rPr>
              <a:t>تُعد محاسبة التكاليف أداة دعم رئيسية للإدارة، حيث تزودها بمعلومات موثوقة تساعد في اتخاذ قرارات مثل:</a:t>
            </a:r>
          </a:p>
          <a:p>
            <a:pPr algn="r" fontAlgn="base">
              <a:buFont typeface="Arial" panose="020B0604020202020204" pitchFamily="34" charset="0"/>
              <a:buChar char="•"/>
            </a:pPr>
            <a:r>
              <a:rPr lang="ar-JO" b="1" i="0" dirty="0">
                <a:solidFill>
                  <a:srgbClr val="374151"/>
                </a:solidFill>
                <a:effectLst/>
                <a:latin typeface="LamaSans"/>
              </a:rPr>
              <a:t>التوسع في الإنتاج</a:t>
            </a:r>
          </a:p>
          <a:p>
            <a:pPr algn="r" fontAlgn="base">
              <a:buFont typeface="Arial" panose="020B0604020202020204" pitchFamily="34" charset="0"/>
              <a:buChar char="•"/>
            </a:pPr>
            <a:r>
              <a:rPr lang="ar-JO" b="1" i="0" dirty="0">
                <a:solidFill>
                  <a:srgbClr val="374151"/>
                </a:solidFill>
                <a:effectLst/>
                <a:latin typeface="LamaSans"/>
              </a:rPr>
              <a:t>إلغاء منتج معين</a:t>
            </a:r>
          </a:p>
          <a:p>
            <a:pPr algn="r" fontAlgn="base">
              <a:buFont typeface="Arial" panose="020B0604020202020204" pitchFamily="34" charset="0"/>
              <a:buChar char="•"/>
            </a:pPr>
            <a:r>
              <a:rPr lang="ar-JO" b="1" i="0" u="sng" dirty="0">
                <a:solidFill>
                  <a:srgbClr val="1B63FF"/>
                </a:solidFill>
                <a:effectLst/>
                <a:latin typeface="LamaSans"/>
                <a:hlinkClick r:id="rId3"/>
              </a:rPr>
              <a:t>التفاوض</a:t>
            </a:r>
            <a:r>
              <a:rPr lang="ar-JO" b="1" i="0" dirty="0">
                <a:solidFill>
                  <a:srgbClr val="374151"/>
                </a:solidFill>
                <a:effectLst/>
                <a:latin typeface="LamaSans"/>
              </a:rPr>
              <a:t> مع الموردين</a:t>
            </a:r>
          </a:p>
          <a:p>
            <a:pPr algn="r" fontAlgn="base">
              <a:buFont typeface="Arial" panose="020B0604020202020204" pitchFamily="34" charset="0"/>
              <a:buChar char="•"/>
            </a:pPr>
            <a:r>
              <a:rPr lang="ar-JO" b="1" i="0" dirty="0">
                <a:solidFill>
                  <a:srgbClr val="374151"/>
                </a:solidFill>
                <a:effectLst/>
                <a:latin typeface="LamaSans"/>
              </a:rPr>
              <a:t>أو اعتماد طرق تصنيع جديدة.</a:t>
            </a:r>
          </a:p>
        </p:txBody>
      </p:sp>
    </p:spTree>
    <p:extLst>
      <p:ext uri="{BB962C8B-B14F-4D97-AF65-F5344CB8AC3E}">
        <p14:creationId xmlns:p14="http://schemas.microsoft.com/office/powerpoint/2010/main" val="2475413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0F7BBB6E-93F4-E0D7-C4C7-F0B62284322A}"/>
              </a:ext>
            </a:extLst>
          </p:cNvPr>
          <p:cNvSpPr>
            <a:spLocks noGrp="1"/>
          </p:cNvSpPr>
          <p:nvPr>
            <p:ph idx="1"/>
          </p:nvPr>
        </p:nvSpPr>
        <p:spPr/>
        <p:txBody>
          <a:bodyPr/>
          <a:lstStyle/>
          <a:p>
            <a:endParaRPr lang="en-US"/>
          </a:p>
        </p:txBody>
      </p:sp>
      <p:sp>
        <p:nvSpPr>
          <p:cNvPr id="3" name="عنوان 2">
            <a:extLst>
              <a:ext uri="{FF2B5EF4-FFF2-40B4-BE49-F238E27FC236}">
                <a16:creationId xmlns:a16="http://schemas.microsoft.com/office/drawing/2014/main" id="{0C953259-A1EF-61CA-ED77-B91ADDA8C761}"/>
              </a:ext>
            </a:extLst>
          </p:cNvPr>
          <p:cNvSpPr>
            <a:spLocks noGrp="1"/>
          </p:cNvSpPr>
          <p:nvPr>
            <p:ph type="title"/>
          </p:nvPr>
        </p:nvSpPr>
        <p:spPr/>
        <p:txBody>
          <a:bodyPr/>
          <a:lstStyle/>
          <a:p>
            <a:endParaRPr lang="en-US"/>
          </a:p>
        </p:txBody>
      </p:sp>
      <p:sp>
        <p:nvSpPr>
          <p:cNvPr id="5" name="مربع نص 4">
            <a:extLst>
              <a:ext uri="{FF2B5EF4-FFF2-40B4-BE49-F238E27FC236}">
                <a16:creationId xmlns:a16="http://schemas.microsoft.com/office/drawing/2014/main" id="{175CF4C9-FE79-3209-1513-3BE873D0C9E3}"/>
              </a:ext>
            </a:extLst>
          </p:cNvPr>
          <p:cNvSpPr txBox="1"/>
          <p:nvPr/>
        </p:nvSpPr>
        <p:spPr>
          <a:xfrm>
            <a:off x="1320281" y="130629"/>
            <a:ext cx="9969760" cy="6294031"/>
          </a:xfrm>
          <a:prstGeom prst="rect">
            <a:avLst/>
          </a:prstGeom>
          <a:noFill/>
        </p:spPr>
        <p:txBody>
          <a:bodyPr wrap="square">
            <a:spAutoFit/>
          </a:bodyPr>
          <a:lstStyle/>
          <a:p>
            <a:pPr algn="r">
              <a:spcBef>
                <a:spcPts val="2700"/>
              </a:spcBef>
              <a:spcAft>
                <a:spcPts val="1200"/>
              </a:spcAft>
            </a:pPr>
            <a:r>
              <a:rPr lang="ar-JO" b="1" i="0" dirty="0">
                <a:solidFill>
                  <a:srgbClr val="0B143A"/>
                </a:solidFill>
                <a:effectLst/>
                <a:latin typeface="LamaSans"/>
              </a:rPr>
              <a:t> أنواع محاسبة التكاليف:</a:t>
            </a:r>
          </a:p>
          <a:p>
            <a:pPr algn="r">
              <a:spcBef>
                <a:spcPts val="2700"/>
              </a:spcBef>
              <a:spcAft>
                <a:spcPts val="1200"/>
              </a:spcAft>
            </a:pPr>
            <a:r>
              <a:rPr lang="ar-JO" b="0" i="0" dirty="0">
                <a:solidFill>
                  <a:srgbClr val="374151"/>
                </a:solidFill>
                <a:effectLst/>
                <a:latin typeface="LamaSans"/>
              </a:rPr>
              <a:t>تتعدد أنواع محاسبة التكاليف بحسب طبيعة النشاط والهدف من التحليل، وتتنوع الأساليب المستخدمة لتناسب احتياجات المؤسسات المختلفة. فيما يلي أهم أنواع محاسبة التكاليف:</a:t>
            </a:r>
          </a:p>
          <a:p>
            <a:pPr algn="r" fontAlgn="base">
              <a:spcBef>
                <a:spcPts val="2100"/>
              </a:spcBef>
              <a:spcAft>
                <a:spcPts val="900"/>
              </a:spcAft>
              <a:buFont typeface="Arial" panose="020B0604020202020204" pitchFamily="34" charset="0"/>
              <a:buChar char="•"/>
            </a:pPr>
            <a:r>
              <a:rPr lang="ar-JO" b="1" i="0" dirty="0">
                <a:solidFill>
                  <a:srgbClr val="0B143A"/>
                </a:solidFill>
                <a:effectLst/>
                <a:latin typeface="LamaSans"/>
              </a:rPr>
              <a:t>المحاسبة القياسية (</a:t>
            </a:r>
            <a:r>
              <a:rPr lang="en-US" b="1" i="0" dirty="0">
                <a:solidFill>
                  <a:srgbClr val="0B143A"/>
                </a:solidFill>
                <a:effectLst/>
                <a:latin typeface="LamaSans"/>
              </a:rPr>
              <a:t>Standard Costing)</a:t>
            </a:r>
          </a:p>
          <a:p>
            <a:pPr algn="r"/>
            <a:r>
              <a:rPr lang="ar-JO" b="0" i="0" dirty="0">
                <a:solidFill>
                  <a:srgbClr val="374151"/>
                </a:solidFill>
                <a:effectLst/>
                <a:latin typeface="LamaSans"/>
              </a:rPr>
              <a:t>تقوم هذه الطريقة على تحديد تكاليف تقديرية “قياسية” لكل منتج أو عملية، ثم مقارنة هذه التكاليف بالتكاليف الفعلية، وتحليل الفروق بينهما فيما يُعرف بتحليل التباين.</a:t>
            </a:r>
          </a:p>
          <a:p>
            <a:pPr algn="r"/>
            <a:r>
              <a:rPr lang="ar-JO" b="1" i="0" dirty="0">
                <a:solidFill>
                  <a:srgbClr val="374151"/>
                </a:solidFill>
                <a:effectLst/>
                <a:latin typeface="LamaSans"/>
              </a:rPr>
              <a:t>الفائدة:</a:t>
            </a:r>
            <a:r>
              <a:rPr lang="ar-JO" b="0" i="0" dirty="0">
                <a:solidFill>
                  <a:srgbClr val="374151"/>
                </a:solidFill>
                <a:effectLst/>
                <a:latin typeface="LamaSans"/>
              </a:rPr>
              <a:t> تمكّن الإدارة من تقييم الأداء وتحديد الانحرافات ومعالجتها.</a:t>
            </a:r>
          </a:p>
          <a:p>
            <a:pPr algn="r"/>
            <a:r>
              <a:rPr lang="ar-JO" b="0" i="0" dirty="0">
                <a:solidFill>
                  <a:srgbClr val="374151"/>
                </a:solidFill>
                <a:effectLst/>
                <a:latin typeface="LamaSans"/>
              </a:rPr>
              <a:t>إذا كانت التكلفة القياسية لوحدة إنتاج 500 ر.س، والتكلفة الفعلية 450 ر.س، فالتباين في صالح المنشأة بمقدار 50 ر.س، ما يشير إلى كفاءة في الإنفاق.</a:t>
            </a:r>
          </a:p>
          <a:p>
            <a:pPr algn="r" fontAlgn="base">
              <a:spcBef>
                <a:spcPts val="2100"/>
              </a:spcBef>
              <a:spcAft>
                <a:spcPts val="900"/>
              </a:spcAft>
              <a:buFont typeface="Arial" panose="020B0604020202020204" pitchFamily="34" charset="0"/>
              <a:buChar char="•"/>
            </a:pPr>
            <a:r>
              <a:rPr lang="ar-JO" b="1" i="0" dirty="0">
                <a:solidFill>
                  <a:srgbClr val="0B143A"/>
                </a:solidFill>
                <a:effectLst/>
                <a:latin typeface="LamaSans"/>
              </a:rPr>
              <a:t>المحاسبة على أساس النشاط (</a:t>
            </a:r>
            <a:r>
              <a:rPr lang="en-US" b="1" i="0" dirty="0">
                <a:solidFill>
                  <a:srgbClr val="0B143A"/>
                </a:solidFill>
                <a:effectLst/>
                <a:latin typeface="LamaSans"/>
              </a:rPr>
              <a:t>Activity-Based Costing, ABC)</a:t>
            </a:r>
          </a:p>
          <a:p>
            <a:pPr algn="r"/>
            <a:r>
              <a:rPr lang="ar-JO" b="0" i="0" dirty="0">
                <a:solidFill>
                  <a:srgbClr val="374151"/>
                </a:solidFill>
                <a:effectLst/>
                <a:latin typeface="LamaSans"/>
              </a:rPr>
              <a:t>تركّز هذه الطريقة على توزيع التكاليف استنادًا إلى الأنشطة الفعلية التي تستهلك الموارد، وليس على المنتجات فقط. تُحدَّد تكلفة كل نشاط مثل التصميم، الإنتاج، التوزيع، ثم تُوزَّع على المنتجات بحسب استخدامها لهذه الأنشطة.</a:t>
            </a:r>
          </a:p>
          <a:p>
            <a:pPr algn="r"/>
            <a:r>
              <a:rPr lang="ar-JO" b="1" i="0" dirty="0">
                <a:solidFill>
                  <a:srgbClr val="374151"/>
                </a:solidFill>
                <a:effectLst/>
                <a:latin typeface="LamaSans"/>
              </a:rPr>
              <a:t>الفائدة:</a:t>
            </a:r>
            <a:r>
              <a:rPr lang="ar-JO" b="0" i="0" dirty="0">
                <a:solidFill>
                  <a:srgbClr val="374151"/>
                </a:solidFill>
                <a:effectLst/>
                <a:latin typeface="LamaSans"/>
              </a:rPr>
              <a:t> تساعد في كشف الأنشطة الأعلى تكلفة، وتُحسّن تخصيص الموارد.</a:t>
            </a:r>
          </a:p>
          <a:p>
            <a:pPr algn="r"/>
            <a:r>
              <a:rPr lang="ar-JO" b="1" i="0" dirty="0">
                <a:solidFill>
                  <a:srgbClr val="374151"/>
                </a:solidFill>
                <a:effectLst/>
                <a:latin typeface="LamaSans"/>
              </a:rPr>
              <a:t>مثال:</a:t>
            </a:r>
            <a:r>
              <a:rPr lang="ar-JO" b="0" i="0" dirty="0">
                <a:solidFill>
                  <a:srgbClr val="374151"/>
                </a:solidFill>
                <a:effectLst/>
                <a:latin typeface="LamaSans"/>
              </a:rPr>
              <a:t> إذا استهلك منتج معين وقتًا أطول في التصميم مقارنة بغيره، تُخصَّص له تكلفة أعلى من نشاط التصميم.</a:t>
            </a:r>
          </a:p>
          <a:p>
            <a:pPr algn="r"/>
            <a:r>
              <a:rPr lang="ar-JO" b="1" i="1" dirty="0">
                <a:solidFill>
                  <a:srgbClr val="374151"/>
                </a:solidFill>
                <a:effectLst/>
                <a:latin typeface="LamaSans"/>
              </a:rPr>
              <a:t>نصيحة عملية</a:t>
            </a:r>
            <a:r>
              <a:rPr lang="ar-JO" b="0" i="1" dirty="0">
                <a:solidFill>
                  <a:srgbClr val="374151"/>
                </a:solidFill>
                <a:effectLst/>
                <a:latin typeface="LamaSans"/>
              </a:rPr>
              <a:t>:</a:t>
            </a:r>
            <a:r>
              <a:rPr lang="ar-JO" b="0" i="0" dirty="0">
                <a:solidFill>
                  <a:srgbClr val="374151"/>
                </a:solidFill>
                <a:effectLst/>
                <a:latin typeface="LamaSans"/>
              </a:rPr>
              <a:t> استخدم نموذج </a:t>
            </a:r>
            <a:r>
              <a:rPr lang="en-US" b="0" i="0" dirty="0">
                <a:solidFill>
                  <a:srgbClr val="374151"/>
                </a:solidFill>
                <a:effectLst/>
                <a:latin typeface="LamaSans"/>
              </a:rPr>
              <a:t>ABC </a:t>
            </a:r>
            <a:r>
              <a:rPr lang="ar-JO" b="0" i="0" dirty="0">
                <a:solidFill>
                  <a:srgbClr val="374151"/>
                </a:solidFill>
                <a:effectLst/>
                <a:latin typeface="LamaSans"/>
              </a:rPr>
              <a:t>جاهز لتوزيع التكاليف بدقة دون الحاجة لخلفية محاسبية عميقة.</a:t>
            </a:r>
          </a:p>
          <a:p>
            <a:pPr algn="r">
              <a:spcBef>
                <a:spcPts val="2700"/>
              </a:spcBef>
              <a:spcAft>
                <a:spcPts val="1200"/>
              </a:spcAft>
            </a:pPr>
            <a:endParaRPr lang="ar-JO" b="1" i="0" dirty="0">
              <a:solidFill>
                <a:srgbClr val="0B143A"/>
              </a:solidFill>
              <a:effectLst/>
              <a:latin typeface="LamaSans"/>
            </a:endParaRPr>
          </a:p>
        </p:txBody>
      </p:sp>
    </p:spTree>
    <p:extLst>
      <p:ext uri="{BB962C8B-B14F-4D97-AF65-F5344CB8AC3E}">
        <p14:creationId xmlns:p14="http://schemas.microsoft.com/office/powerpoint/2010/main" val="156649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F5B5AB4B-AE62-0BB3-B333-8CF3BA636865}"/>
              </a:ext>
            </a:extLst>
          </p:cNvPr>
          <p:cNvSpPr>
            <a:spLocks noGrp="1"/>
          </p:cNvSpPr>
          <p:nvPr>
            <p:ph idx="1"/>
          </p:nvPr>
        </p:nvSpPr>
        <p:spPr/>
        <p:txBody>
          <a:bodyPr/>
          <a:lstStyle/>
          <a:p>
            <a:endParaRPr lang="en-US"/>
          </a:p>
        </p:txBody>
      </p:sp>
      <p:sp>
        <p:nvSpPr>
          <p:cNvPr id="3" name="عنوان 2">
            <a:extLst>
              <a:ext uri="{FF2B5EF4-FFF2-40B4-BE49-F238E27FC236}">
                <a16:creationId xmlns:a16="http://schemas.microsoft.com/office/drawing/2014/main" id="{E7A19515-8A54-9949-6A96-5E4F475D9CB0}"/>
              </a:ext>
            </a:extLst>
          </p:cNvPr>
          <p:cNvSpPr>
            <a:spLocks noGrp="1"/>
          </p:cNvSpPr>
          <p:nvPr>
            <p:ph type="title"/>
          </p:nvPr>
        </p:nvSpPr>
        <p:spPr/>
        <p:txBody>
          <a:bodyPr/>
          <a:lstStyle/>
          <a:p>
            <a:endParaRPr lang="en-US"/>
          </a:p>
        </p:txBody>
      </p:sp>
      <p:sp>
        <p:nvSpPr>
          <p:cNvPr id="5" name="مربع نص 4">
            <a:extLst>
              <a:ext uri="{FF2B5EF4-FFF2-40B4-BE49-F238E27FC236}">
                <a16:creationId xmlns:a16="http://schemas.microsoft.com/office/drawing/2014/main" id="{2D9A3163-D60A-5F85-C063-3054B38C99D4}"/>
              </a:ext>
            </a:extLst>
          </p:cNvPr>
          <p:cNvSpPr txBox="1"/>
          <p:nvPr/>
        </p:nvSpPr>
        <p:spPr>
          <a:xfrm>
            <a:off x="1320282" y="1354139"/>
            <a:ext cx="10482942" cy="4696157"/>
          </a:xfrm>
          <a:prstGeom prst="rect">
            <a:avLst/>
          </a:prstGeom>
          <a:noFill/>
        </p:spPr>
        <p:txBody>
          <a:bodyPr wrap="square">
            <a:spAutoFit/>
          </a:bodyPr>
          <a:lstStyle/>
          <a:p>
            <a:pPr algn="r" rtl="1" fontAlgn="base">
              <a:lnSpc>
                <a:spcPct val="150000"/>
              </a:lnSpc>
              <a:spcBef>
                <a:spcPts val="2100"/>
              </a:spcBef>
              <a:spcAft>
                <a:spcPts val="900"/>
              </a:spcAft>
              <a:buFont typeface="Arial" panose="020B0604020202020204" pitchFamily="34" charset="0"/>
              <a:buChar char="•"/>
            </a:pPr>
            <a:r>
              <a:rPr lang="ar-JO" b="1" i="0" dirty="0">
                <a:solidFill>
                  <a:srgbClr val="0B143A"/>
                </a:solidFill>
                <a:effectLst/>
                <a:latin typeface="LamaSans"/>
              </a:rPr>
              <a:t>المحاسبة الهامشية (</a:t>
            </a:r>
            <a:r>
              <a:rPr lang="en-US" b="1" i="0" dirty="0">
                <a:solidFill>
                  <a:srgbClr val="0B143A"/>
                </a:solidFill>
                <a:effectLst/>
                <a:latin typeface="LamaSans"/>
              </a:rPr>
              <a:t>Marginal Costing)</a:t>
            </a:r>
          </a:p>
          <a:p>
            <a:pPr algn="r" rtl="1">
              <a:lnSpc>
                <a:spcPct val="150000"/>
              </a:lnSpc>
            </a:pPr>
            <a:r>
              <a:rPr lang="ar-JO" b="0" i="0" dirty="0">
                <a:solidFill>
                  <a:srgbClr val="374151"/>
                </a:solidFill>
                <a:effectLst/>
                <a:latin typeface="LamaSans"/>
              </a:rPr>
              <a:t>تعتمد هذه الطريقة على تحميل المنتجات فقط بالتكاليف المتغيرة، بينما تُعَد التكاليف الثابتة نفقات فترة لا تُحمَّل على الوحدة. الهدف الأساسي هو احتساب </a:t>
            </a:r>
            <a:r>
              <a:rPr lang="ar-JO" b="1" i="0" u="sng" dirty="0">
                <a:solidFill>
                  <a:srgbClr val="1B63FF"/>
                </a:solidFill>
                <a:effectLst/>
                <a:latin typeface="LamaSans"/>
                <a:hlinkClick r:id="rId2"/>
              </a:rPr>
              <a:t>هامش المساهمة</a:t>
            </a:r>
            <a:r>
              <a:rPr lang="ar-JO" b="0" i="0" dirty="0">
                <a:solidFill>
                  <a:srgbClr val="374151"/>
                </a:solidFill>
                <a:effectLst/>
                <a:latin typeface="LamaSans"/>
              </a:rPr>
              <a:t>.</a:t>
            </a:r>
          </a:p>
          <a:p>
            <a:pPr algn="r" rtl="1">
              <a:lnSpc>
                <a:spcPct val="150000"/>
              </a:lnSpc>
            </a:pPr>
            <a:r>
              <a:rPr lang="ar-JO" b="1" i="0" dirty="0">
                <a:solidFill>
                  <a:srgbClr val="374151"/>
                </a:solidFill>
                <a:effectLst/>
                <a:latin typeface="LamaSans"/>
              </a:rPr>
              <a:t>الفائدة:</a:t>
            </a:r>
            <a:r>
              <a:rPr lang="ar-JO" b="0" i="0" dirty="0">
                <a:solidFill>
                  <a:srgbClr val="374151"/>
                </a:solidFill>
                <a:effectLst/>
                <a:latin typeface="LamaSans"/>
              </a:rPr>
              <a:t> مفيدة في اتخاذ قرارات التسعير القصيرة الأجل أو تحليل الربحية.</a:t>
            </a:r>
          </a:p>
          <a:p>
            <a:pPr algn="r" rtl="1">
              <a:lnSpc>
                <a:spcPct val="150000"/>
              </a:lnSpc>
            </a:pPr>
            <a:r>
              <a:rPr lang="ar-JO" b="0" i="0" dirty="0">
                <a:solidFill>
                  <a:srgbClr val="374151"/>
                </a:solidFill>
                <a:effectLst/>
                <a:latin typeface="LamaSans"/>
              </a:rPr>
              <a:t>إذا بلغت إيرادات المنتج 100 ر.س، وتكاليفه المتغيرة 60 ر.س، فإن هامش المساهمة يساوي 40 ر.س.</a:t>
            </a:r>
          </a:p>
          <a:p>
            <a:pPr algn="r" rtl="1" fontAlgn="base">
              <a:lnSpc>
                <a:spcPct val="150000"/>
              </a:lnSpc>
              <a:spcBef>
                <a:spcPts val="2100"/>
              </a:spcBef>
              <a:spcAft>
                <a:spcPts val="900"/>
              </a:spcAft>
              <a:buFont typeface="Arial" panose="020B0604020202020204" pitchFamily="34" charset="0"/>
              <a:buChar char="•"/>
            </a:pPr>
            <a:r>
              <a:rPr lang="ar-JO" b="1" i="0" dirty="0">
                <a:solidFill>
                  <a:srgbClr val="0B143A"/>
                </a:solidFill>
                <a:effectLst/>
                <a:latin typeface="LamaSans"/>
              </a:rPr>
              <a:t>المحاسبة الخالية من الهدر (</a:t>
            </a:r>
            <a:r>
              <a:rPr lang="en-US" b="1" i="0" dirty="0">
                <a:solidFill>
                  <a:srgbClr val="0B143A"/>
                </a:solidFill>
                <a:effectLst/>
                <a:latin typeface="LamaSans"/>
              </a:rPr>
              <a:t>Lean Accounting)</a:t>
            </a:r>
          </a:p>
          <a:p>
            <a:pPr algn="r" rtl="1">
              <a:lnSpc>
                <a:spcPct val="150000"/>
              </a:lnSpc>
            </a:pPr>
            <a:r>
              <a:rPr lang="ar-JO" b="0" i="0" dirty="0">
                <a:solidFill>
                  <a:srgbClr val="374151"/>
                </a:solidFill>
                <a:effectLst/>
                <a:latin typeface="LamaSans"/>
              </a:rPr>
              <a:t>مستوحاة من مبادئ الإنتاج الرشيق (</a:t>
            </a:r>
            <a:r>
              <a:rPr lang="en-US" b="0" i="0" dirty="0">
                <a:solidFill>
                  <a:srgbClr val="374151"/>
                </a:solidFill>
                <a:effectLst/>
                <a:latin typeface="LamaSans"/>
              </a:rPr>
              <a:t>Lean Manufacturing)، </a:t>
            </a:r>
            <a:r>
              <a:rPr lang="ar-JO" b="0" i="0" dirty="0">
                <a:solidFill>
                  <a:srgbClr val="374151"/>
                </a:solidFill>
                <a:effectLst/>
                <a:latin typeface="LamaSans"/>
              </a:rPr>
              <a:t>تركز هذه الطريقة على </a:t>
            </a:r>
            <a:r>
              <a:rPr lang="ar-JO" b="1" i="0" dirty="0">
                <a:solidFill>
                  <a:srgbClr val="374151"/>
                </a:solidFill>
                <a:effectLst/>
                <a:latin typeface="LamaSans"/>
              </a:rPr>
              <a:t>تقليل الهدر</a:t>
            </a:r>
            <a:r>
              <a:rPr lang="ar-JO" b="0" i="0" dirty="0">
                <a:solidFill>
                  <a:srgbClr val="374151"/>
                </a:solidFill>
                <a:effectLst/>
                <a:latin typeface="LamaSans"/>
              </a:rPr>
              <a:t> في التكاليف، الوقت، والموارد، وزيادة الكفاءة التشغيلية.</a:t>
            </a:r>
          </a:p>
          <a:p>
            <a:pPr algn="r" rtl="1">
              <a:lnSpc>
                <a:spcPct val="150000"/>
              </a:lnSpc>
            </a:pPr>
            <a:r>
              <a:rPr lang="ar-JO" b="1" i="0" dirty="0">
                <a:solidFill>
                  <a:srgbClr val="374151"/>
                </a:solidFill>
                <a:effectLst/>
                <a:latin typeface="LamaSans"/>
              </a:rPr>
              <a:t>الفائدة:</a:t>
            </a:r>
            <a:r>
              <a:rPr lang="ar-JO" b="0" i="0" dirty="0">
                <a:solidFill>
                  <a:srgbClr val="374151"/>
                </a:solidFill>
                <a:effectLst/>
                <a:latin typeface="LamaSans"/>
              </a:rPr>
              <a:t> تحفّز الشركات على تحسين العمليات، وتقليل الفاقد، وزيادة الربحية.</a:t>
            </a:r>
          </a:p>
          <a:p>
            <a:pPr algn="r" rtl="1">
              <a:lnSpc>
                <a:spcPct val="150000"/>
              </a:lnSpc>
            </a:pPr>
            <a:r>
              <a:rPr lang="ar-JO" b="1" i="0" dirty="0">
                <a:solidFill>
                  <a:srgbClr val="374151"/>
                </a:solidFill>
                <a:effectLst/>
                <a:latin typeface="LamaSans"/>
              </a:rPr>
              <a:t>مثال:</a:t>
            </a:r>
            <a:r>
              <a:rPr lang="ar-JO" b="0" i="0" dirty="0">
                <a:solidFill>
                  <a:srgbClr val="374151"/>
                </a:solidFill>
                <a:effectLst/>
                <a:latin typeface="LamaSans"/>
              </a:rPr>
              <a:t> إلغاء خطوات إنتاج لا تضيف قيمة حقيقية للعميل، مما يخفف من الوقت والتكاليف بدون التأثير على الجودة.</a:t>
            </a:r>
          </a:p>
        </p:txBody>
      </p:sp>
    </p:spTree>
    <p:extLst>
      <p:ext uri="{BB962C8B-B14F-4D97-AF65-F5344CB8AC3E}">
        <p14:creationId xmlns:p14="http://schemas.microsoft.com/office/powerpoint/2010/main" val="3933082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CAC3C-790F-06D9-3507-F482B2D6201E}"/>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46CAF9AA-D6BB-1E84-22C7-88267BFEE6AB}"/>
              </a:ext>
            </a:extLst>
          </p:cNvPr>
          <p:cNvSpPr txBox="1">
            <a:spLocks noGrp="1" noChangeArrowheads="1"/>
          </p:cNvSpPr>
          <p:nvPr>
            <p:ph type="title"/>
          </p:nvPr>
        </p:nvSpPr>
        <p:spPr bwMode="auto">
          <a:xfrm>
            <a:off x="1981200" y="274638"/>
            <a:ext cx="8229600" cy="939784"/>
          </a:xfrm>
          <a:prstGeom prst="rect">
            <a:avLst/>
          </a:prstGeom>
          <a:noFill/>
          <a:ln w="63500">
            <a:noFill/>
            <a:miter lim="800000"/>
            <a:headEnd/>
            <a:tailEnd/>
          </a:ln>
          <a:effectLst/>
        </p:spPr>
        <p:txBody>
          <a:bodyPr vert="horz" wrap="square" lIns="92075" tIns="46038" rIns="92075" bIns="46038" numCol="1" rtlCol="0" anchor="ctr" anchorCtr="0" compatLnSpc="1">
            <a:prstTxWarp prst="textNoShape">
              <a:avLst/>
            </a:prstTxWarp>
            <a:normAutofit fontScale="90000"/>
          </a:bodyPr>
          <a:lstStyle/>
          <a:p>
            <a:pPr algn="ctr" eaLnBrk="0" fontAlgn="base" hangingPunct="0">
              <a:spcAft>
                <a:spcPct val="0"/>
              </a:spcAft>
              <a:defRPr/>
            </a:pPr>
            <a:r>
              <a:rPr lang="ar-SA" sz="3200" b="1" i="1" kern="0" dirty="0">
                <a:solidFill>
                  <a:srgbClr val="FF0000"/>
                </a:solidFill>
                <a:latin typeface="Comic Sans MS"/>
              </a:rPr>
              <a:t> </a:t>
            </a:r>
            <a:r>
              <a:rPr lang="ar-JO" sz="1800" b="1" i="0" dirty="0">
                <a:solidFill>
                  <a:srgbClr val="FF0000"/>
                </a:solidFill>
                <a:effectLst/>
                <a:latin typeface="LamaSans"/>
              </a:rPr>
              <a:t>أنواع التكاليف في محاسبة التكاليف</a:t>
            </a:r>
            <a:br>
              <a:rPr lang="ar-JO" sz="1800" b="1" i="0" dirty="0">
                <a:solidFill>
                  <a:srgbClr val="0B143A"/>
                </a:solidFill>
                <a:effectLst/>
                <a:latin typeface="LamaSans"/>
              </a:rPr>
            </a:br>
            <a:endParaRPr lang="en-US" sz="3200" b="1" i="1" kern="0" dirty="0">
              <a:solidFill>
                <a:srgbClr val="FF0000"/>
              </a:solidFill>
              <a:latin typeface="Comic Sans MS"/>
            </a:endParaRPr>
          </a:p>
        </p:txBody>
      </p:sp>
      <p:sp>
        <p:nvSpPr>
          <p:cNvPr id="3" name="Content Placeholder 2">
            <a:extLst>
              <a:ext uri="{FF2B5EF4-FFF2-40B4-BE49-F238E27FC236}">
                <a16:creationId xmlns:a16="http://schemas.microsoft.com/office/drawing/2014/main" id="{FFE59672-970B-7954-8742-EB80E5114C79}"/>
              </a:ext>
            </a:extLst>
          </p:cNvPr>
          <p:cNvSpPr>
            <a:spLocks noGrp="1"/>
          </p:cNvSpPr>
          <p:nvPr>
            <p:ph idx="1"/>
          </p:nvPr>
        </p:nvSpPr>
        <p:spPr>
          <a:xfrm>
            <a:off x="1703512" y="1357300"/>
            <a:ext cx="8678768" cy="4768865"/>
          </a:xfrm>
        </p:spPr>
        <p:txBody>
          <a:bodyPr>
            <a:normAutofit fontScale="47500" lnSpcReduction="20000"/>
          </a:bodyPr>
          <a:lstStyle/>
          <a:p>
            <a:pPr algn="r" rtl="1">
              <a:lnSpc>
                <a:spcPct val="170000"/>
              </a:lnSpc>
              <a:spcBef>
                <a:spcPts val="2100"/>
              </a:spcBef>
              <a:spcAft>
                <a:spcPts val="900"/>
              </a:spcAft>
            </a:pPr>
            <a:r>
              <a:rPr lang="ar-JO" b="1" i="0" dirty="0">
                <a:solidFill>
                  <a:srgbClr val="FF0000"/>
                </a:solidFill>
                <a:effectLst/>
                <a:latin typeface="LamaSans"/>
              </a:rPr>
              <a:t>1. التكاليف حسب طبيعة علاقتها بوحدة المنتج أو النشاط:</a:t>
            </a:r>
          </a:p>
          <a:p>
            <a:pPr algn="r" rtl="1" fontAlgn="base">
              <a:lnSpc>
                <a:spcPct val="170000"/>
              </a:lnSpc>
              <a:buFont typeface="Arial" panose="020B0604020202020204" pitchFamily="34" charset="0"/>
              <a:buChar char="•"/>
            </a:pPr>
            <a:r>
              <a:rPr lang="ar-JO" b="1" i="0" dirty="0">
                <a:solidFill>
                  <a:srgbClr val="374151"/>
                </a:solidFill>
                <a:effectLst/>
                <a:latin typeface="LamaSans"/>
              </a:rPr>
              <a:t>التكاليف المباشرة (</a:t>
            </a:r>
            <a:r>
              <a:rPr lang="en-US" b="1" i="0" dirty="0">
                <a:solidFill>
                  <a:srgbClr val="374151"/>
                </a:solidFill>
                <a:effectLst/>
                <a:latin typeface="LamaSans"/>
              </a:rPr>
              <a:t>Direct Costs): </a:t>
            </a:r>
            <a:r>
              <a:rPr lang="ar-JO" b="1" i="0" dirty="0">
                <a:solidFill>
                  <a:srgbClr val="374151"/>
                </a:solidFill>
                <a:effectLst/>
                <a:latin typeface="LamaSans"/>
              </a:rPr>
              <a:t>هي التكاليف التي يمكن تتبعها وتخصيصها بشكل مباشر لوحدة منتج معينة أو نشاط محدد بسهولة ودقة.</a:t>
            </a:r>
          </a:p>
          <a:p>
            <a:pPr marL="742950" lvl="1" indent="-285750" algn="r" rtl="1" fontAlgn="base">
              <a:lnSpc>
                <a:spcPct val="170000"/>
              </a:lnSpc>
              <a:buFont typeface="Arial" panose="020B0604020202020204" pitchFamily="34" charset="0"/>
              <a:buChar char="•"/>
            </a:pPr>
            <a:r>
              <a:rPr lang="ar-JO" b="1" i="0" dirty="0">
                <a:solidFill>
                  <a:srgbClr val="374151"/>
                </a:solidFill>
                <a:effectLst/>
                <a:latin typeface="LamaSans"/>
              </a:rPr>
              <a:t>أمثلة: المواد الخام الأساسية المستخدمة في المنتج، أجور العمالة المباشرة التي تعمل على تجميع المنتج.</a:t>
            </a:r>
          </a:p>
          <a:p>
            <a:pPr algn="r" rtl="1" fontAlgn="base">
              <a:lnSpc>
                <a:spcPct val="170000"/>
              </a:lnSpc>
              <a:buFont typeface="Arial" panose="020B0604020202020204" pitchFamily="34" charset="0"/>
              <a:buChar char="•"/>
            </a:pPr>
            <a:r>
              <a:rPr lang="ar-JO" b="1" i="0" dirty="0">
                <a:solidFill>
                  <a:srgbClr val="374151"/>
                </a:solidFill>
                <a:effectLst/>
                <a:latin typeface="LamaSans"/>
              </a:rPr>
              <a:t>التكاليف غير المباشرة (</a:t>
            </a:r>
            <a:r>
              <a:rPr lang="en-US" b="1" i="0" dirty="0">
                <a:solidFill>
                  <a:srgbClr val="374151"/>
                </a:solidFill>
                <a:effectLst/>
                <a:latin typeface="LamaSans"/>
              </a:rPr>
              <a:t>Indirect Costs): </a:t>
            </a:r>
            <a:r>
              <a:rPr lang="ar-JO" b="1" i="0" dirty="0">
                <a:solidFill>
                  <a:srgbClr val="374151"/>
                </a:solidFill>
                <a:effectLst/>
                <a:latin typeface="LamaSans"/>
              </a:rPr>
              <a:t>هي التكاليف التي لا يمكن تتبعها أو تخصيصها بشكل مباشر لوحدة منتج معينة أو نشاط محدد بسهولة، بل تستفيد منها عدة وحدات أو أنشطة. غالبًا ما يتم توزيع هذه التكاليف على الوحدات أو الأنشطة بناءً على أسس توزيع مناسبة.</a:t>
            </a:r>
          </a:p>
          <a:p>
            <a:pPr marL="742950" lvl="1" indent="-285750" algn="r" rtl="1" fontAlgn="base">
              <a:lnSpc>
                <a:spcPct val="170000"/>
              </a:lnSpc>
              <a:buFont typeface="Arial" panose="020B0604020202020204" pitchFamily="34" charset="0"/>
              <a:buChar char="•"/>
            </a:pPr>
            <a:r>
              <a:rPr lang="ar-JO" b="1" i="0" dirty="0">
                <a:solidFill>
                  <a:srgbClr val="374151"/>
                </a:solidFill>
                <a:effectLst/>
                <a:latin typeface="LamaSans"/>
              </a:rPr>
              <a:t>أمثلة: إيجار المصنع، رواتب المشرفين على الإنتاج، تكاليف الصيانة، فواتير الكهرباء للمصنع.</a:t>
            </a:r>
          </a:p>
          <a:p>
            <a:pPr marL="0" indent="0" algn="r" rtl="1">
              <a:lnSpc>
                <a:spcPct val="150000"/>
              </a:lnSpc>
              <a:tabLst>
                <a:tab pos="8077200" algn="l"/>
              </a:tabLst>
            </a:pPr>
            <a:endParaRPr lang="ar-JO" dirty="0">
              <a:solidFill>
                <a:srgbClr val="FF0000"/>
              </a:solidFill>
            </a:endParaRPr>
          </a:p>
          <a:p>
            <a:pPr marL="0" indent="0" algn="r" rtl="1">
              <a:lnSpc>
                <a:spcPct val="150000"/>
              </a:lnSpc>
              <a:tabLst>
                <a:tab pos="8077200" algn="l"/>
              </a:tabLst>
            </a:pPr>
            <a:r>
              <a:rPr lang="ar-JO" dirty="0">
                <a:solidFill>
                  <a:srgbClr val="FF0000"/>
                </a:solidFill>
              </a:rPr>
              <a:t>1</a:t>
            </a:r>
            <a:r>
              <a:rPr lang="ar-SA" dirty="0">
                <a:solidFill>
                  <a:srgbClr val="FF0000"/>
                </a:solidFill>
              </a:rPr>
              <a:t>- التكاليف الفعلية أو التاريخية :</a:t>
            </a:r>
            <a:endParaRPr lang="ar-SA" dirty="0"/>
          </a:p>
          <a:p>
            <a:pPr marL="0" indent="0" algn="r" rtl="1">
              <a:lnSpc>
                <a:spcPct val="150000"/>
              </a:lnSpc>
              <a:tabLst>
                <a:tab pos="8077200" algn="l"/>
              </a:tabLst>
            </a:pPr>
            <a:r>
              <a:rPr lang="ar-SA" dirty="0"/>
              <a:t>إن المحاسبة المالية لا تستطيع تحديد تكلفة وحدة المنتج و بالتالي تكلفة المبيعات و تكلفة المخزون السلعي وهو ما يمكن تحديده باستخدام محاسبة التكاليف الفعلية التي ظهرت أساسا لتحديد تكاليف المنتجات أو العمليات أو الانشطة المختلفة في المنشأة كل على حدة عن فترة ماضية</a:t>
            </a:r>
          </a:p>
        </p:txBody>
      </p:sp>
      <p:sp>
        <p:nvSpPr>
          <p:cNvPr id="5" name="Slide Number Placeholder 4">
            <a:extLst>
              <a:ext uri="{FF2B5EF4-FFF2-40B4-BE49-F238E27FC236}">
                <a16:creationId xmlns:a16="http://schemas.microsoft.com/office/drawing/2014/main" id="{A6CA9A38-B068-D80B-1B2F-1C77C5FB8FD8}"/>
              </a:ext>
            </a:extLst>
          </p:cNvPr>
          <p:cNvSpPr>
            <a:spLocks noGrp="1"/>
          </p:cNvSpPr>
          <p:nvPr>
            <p:ph type="sldNum" sz="quarter" idx="12"/>
          </p:nvPr>
        </p:nvSpPr>
        <p:spPr/>
        <p:txBody>
          <a:bodyPr/>
          <a:lstStyle/>
          <a:p>
            <a:pPr defTabSz="457200"/>
            <a:fld id="{0B34F065-1154-456A-91E3-76DE8E75E17B}" type="slidenum">
              <a:rPr lang="ar-SA">
                <a:solidFill>
                  <a:prstClr val="black">
                    <a:tint val="75000"/>
                  </a:prstClr>
                </a:solidFill>
                <a:latin typeface="Aptos" panose="02110004020202020204"/>
                <a:cs typeface="Arial" panose="020B0604020202020204" pitchFamily="34" charset="0"/>
              </a:rPr>
              <a:pPr defTabSz="457200"/>
              <a:t>14</a:t>
            </a:fld>
            <a:endParaRPr lang="ar-SA">
              <a:solidFill>
                <a:prstClr val="black">
                  <a:tint val="75000"/>
                </a:prstClr>
              </a:solidFill>
              <a:latin typeface="Aptos" panose="02110004020202020204"/>
              <a:cs typeface="Arial" panose="020B0604020202020204" pitchFamily="34" charset="0"/>
            </a:endParaRPr>
          </a:p>
        </p:txBody>
      </p:sp>
      <p:sp>
        <p:nvSpPr>
          <p:cNvPr id="7" name="Footer Placeholder 3">
            <a:extLst>
              <a:ext uri="{FF2B5EF4-FFF2-40B4-BE49-F238E27FC236}">
                <a16:creationId xmlns:a16="http://schemas.microsoft.com/office/drawing/2014/main" id="{A50D8F04-9516-E16F-30C3-9EA98131FFBB}"/>
              </a:ext>
            </a:extLst>
          </p:cNvPr>
          <p:cNvSpPr>
            <a:spLocks noGrp="1"/>
          </p:cNvSpPr>
          <p:nvPr>
            <p:ph type="ftr" sz="quarter" idx="11"/>
          </p:nvPr>
        </p:nvSpPr>
        <p:spPr>
          <a:xfrm>
            <a:off x="6168008" y="6407946"/>
            <a:ext cx="2880320" cy="365125"/>
          </a:xfrm>
        </p:spPr>
        <p:txBody>
          <a:bodyPr/>
          <a:lstStyle/>
          <a:p>
            <a:pPr defTabSz="457200"/>
            <a:endParaRPr lang="ar-SA" sz="1200" dirty="0">
              <a:solidFill>
                <a:prstClr val="black"/>
              </a:solidFill>
              <a:latin typeface="Aptos" panose="02110004020202020204"/>
              <a:cs typeface="Arial" panose="020B0604020202020204" pitchFamily="34" charset="0"/>
            </a:endParaRPr>
          </a:p>
        </p:txBody>
      </p:sp>
    </p:spTree>
    <p:extLst>
      <p:ext uri="{BB962C8B-B14F-4D97-AF65-F5344CB8AC3E}">
        <p14:creationId xmlns:p14="http://schemas.microsoft.com/office/powerpoint/2010/main" val="270767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4FBDEC7D-EB87-727B-B90A-DB3B142B7C8C}"/>
              </a:ext>
            </a:extLst>
          </p:cNvPr>
          <p:cNvSpPr>
            <a:spLocks noGrp="1"/>
          </p:cNvSpPr>
          <p:nvPr>
            <p:ph idx="1"/>
          </p:nvPr>
        </p:nvSpPr>
        <p:spPr/>
        <p:txBody>
          <a:bodyPr/>
          <a:lstStyle/>
          <a:p>
            <a:pPr marL="0" indent="0">
              <a:buNone/>
            </a:pPr>
            <a:endParaRPr lang="en-US" dirty="0"/>
          </a:p>
        </p:txBody>
      </p:sp>
      <p:sp>
        <p:nvSpPr>
          <p:cNvPr id="3" name="عنوان 2">
            <a:extLst>
              <a:ext uri="{FF2B5EF4-FFF2-40B4-BE49-F238E27FC236}">
                <a16:creationId xmlns:a16="http://schemas.microsoft.com/office/drawing/2014/main" id="{81B33D9C-FB28-B1DB-FB40-17C858DBCCB9}"/>
              </a:ext>
            </a:extLst>
          </p:cNvPr>
          <p:cNvSpPr>
            <a:spLocks noGrp="1"/>
          </p:cNvSpPr>
          <p:nvPr>
            <p:ph type="title"/>
          </p:nvPr>
        </p:nvSpPr>
        <p:spPr/>
        <p:txBody>
          <a:bodyPr/>
          <a:lstStyle/>
          <a:p>
            <a:r>
              <a:rPr lang="ar-JO" b="1" i="0" dirty="0">
                <a:solidFill>
                  <a:srgbClr val="0B143A"/>
                </a:solidFill>
                <a:effectLst/>
                <a:latin typeface="LamaSans"/>
              </a:rPr>
              <a:t>أنواع التكاليف في محاسبة التكاليف</a:t>
            </a:r>
            <a:br>
              <a:rPr lang="ar-JO" b="1" i="0" dirty="0">
                <a:solidFill>
                  <a:srgbClr val="0B143A"/>
                </a:solidFill>
                <a:effectLst/>
                <a:latin typeface="LamaSans"/>
              </a:rPr>
            </a:br>
            <a:endParaRPr lang="en-US" dirty="0"/>
          </a:p>
        </p:txBody>
      </p:sp>
      <p:sp>
        <p:nvSpPr>
          <p:cNvPr id="5" name="مربع نص 4">
            <a:extLst>
              <a:ext uri="{FF2B5EF4-FFF2-40B4-BE49-F238E27FC236}">
                <a16:creationId xmlns:a16="http://schemas.microsoft.com/office/drawing/2014/main" id="{37361C62-EF0B-C9B9-359E-50C82902A793}"/>
              </a:ext>
            </a:extLst>
          </p:cNvPr>
          <p:cNvSpPr txBox="1"/>
          <p:nvPr/>
        </p:nvSpPr>
        <p:spPr>
          <a:xfrm>
            <a:off x="1320281" y="1269500"/>
            <a:ext cx="10007081" cy="4726935"/>
          </a:xfrm>
          <a:prstGeom prst="rect">
            <a:avLst/>
          </a:prstGeom>
          <a:noFill/>
        </p:spPr>
        <p:txBody>
          <a:bodyPr wrap="square">
            <a:spAutoFit/>
          </a:bodyPr>
          <a:lstStyle/>
          <a:p>
            <a:pPr algn="r" rtl="1">
              <a:lnSpc>
                <a:spcPct val="150000"/>
              </a:lnSpc>
              <a:spcBef>
                <a:spcPts val="2100"/>
              </a:spcBef>
              <a:spcAft>
                <a:spcPts val="900"/>
              </a:spcAft>
            </a:pPr>
            <a:r>
              <a:rPr lang="ar-JO" b="1" i="0" dirty="0">
                <a:solidFill>
                  <a:srgbClr val="0B143A"/>
                </a:solidFill>
                <a:effectLst/>
                <a:latin typeface="LamaSans"/>
              </a:rPr>
              <a:t>2. التكاليف حسب سلوكها تجاه التغير في حجم النشاط:</a:t>
            </a:r>
          </a:p>
          <a:p>
            <a:pPr algn="r" rtl="1">
              <a:lnSpc>
                <a:spcPct val="150000"/>
              </a:lnSpc>
            </a:pPr>
            <a:r>
              <a:rPr lang="ar-JO" b="1" i="0" dirty="0">
                <a:solidFill>
                  <a:srgbClr val="374151"/>
                </a:solidFill>
                <a:effectLst/>
                <a:latin typeface="LamaSans"/>
              </a:rPr>
              <a:t>التكاليف الثابتة (</a:t>
            </a:r>
            <a:r>
              <a:rPr lang="en-US" b="1" i="0" dirty="0">
                <a:solidFill>
                  <a:srgbClr val="374151"/>
                </a:solidFill>
                <a:effectLst/>
                <a:latin typeface="LamaSans"/>
              </a:rPr>
              <a:t>Fixed Costs):</a:t>
            </a:r>
            <a:r>
              <a:rPr lang="en-US" b="0" i="0" dirty="0">
                <a:solidFill>
                  <a:srgbClr val="374151"/>
                </a:solidFill>
                <a:effectLst/>
                <a:latin typeface="LamaSans"/>
              </a:rPr>
              <a:t> </a:t>
            </a:r>
            <a:r>
              <a:rPr lang="ar-JO" b="0" i="0" dirty="0">
                <a:solidFill>
                  <a:srgbClr val="374151"/>
                </a:solidFill>
                <a:effectLst/>
                <a:latin typeface="LamaSans"/>
              </a:rPr>
              <a:t>هي التكاليف التي تبقى ثابتة في مجموعها بغض النظر عن التغير في حجم الإنتاج أو النشاط خلال فترة زمنية معينة (ضمن مدى معين من الطاقة الإنتاجية). لكن نصيب الوحدة الواحدة من التكلفة الثابتة يتناقص مع زيادة حجم الإنتاج.</a:t>
            </a:r>
          </a:p>
          <a:p>
            <a:pPr algn="r" rtl="1">
              <a:lnSpc>
                <a:spcPct val="150000"/>
              </a:lnSpc>
            </a:pPr>
            <a:r>
              <a:rPr lang="ar-JO" b="1" i="0" dirty="0">
                <a:solidFill>
                  <a:srgbClr val="374151"/>
                </a:solidFill>
                <a:effectLst/>
                <a:latin typeface="LamaSans"/>
              </a:rPr>
              <a:t>أمثلة:</a:t>
            </a:r>
            <a:r>
              <a:rPr lang="ar-JO" b="0" i="0" dirty="0">
                <a:solidFill>
                  <a:srgbClr val="374151"/>
                </a:solidFill>
                <a:effectLst/>
                <a:latin typeface="LamaSans"/>
              </a:rPr>
              <a:t> الإيجار الشهري للمبنى، أقساط التأمين، رواتب الإدارة الثابتة، استهلاك الأصول الثابتة بطريقة القسط الثابت.</a:t>
            </a:r>
          </a:p>
          <a:p>
            <a:pPr algn="r" rtl="1">
              <a:lnSpc>
                <a:spcPct val="150000"/>
              </a:lnSpc>
            </a:pPr>
            <a:r>
              <a:rPr lang="ar-JO" b="1" i="0" dirty="0">
                <a:solidFill>
                  <a:srgbClr val="374151"/>
                </a:solidFill>
                <a:effectLst/>
                <a:latin typeface="LamaSans"/>
              </a:rPr>
              <a:t>التكاليف المتغيرة (</a:t>
            </a:r>
            <a:r>
              <a:rPr lang="en-US" b="1" i="0" dirty="0">
                <a:solidFill>
                  <a:srgbClr val="374151"/>
                </a:solidFill>
                <a:effectLst/>
                <a:latin typeface="LamaSans"/>
              </a:rPr>
              <a:t>Variable Costs):</a:t>
            </a:r>
            <a:r>
              <a:rPr lang="en-US" b="0" i="0" dirty="0">
                <a:solidFill>
                  <a:srgbClr val="374151"/>
                </a:solidFill>
                <a:effectLst/>
                <a:latin typeface="LamaSans"/>
              </a:rPr>
              <a:t> </a:t>
            </a:r>
            <a:r>
              <a:rPr lang="ar-JO" b="0" i="0" dirty="0">
                <a:solidFill>
                  <a:srgbClr val="374151"/>
                </a:solidFill>
                <a:effectLst/>
                <a:latin typeface="LamaSans"/>
              </a:rPr>
              <a:t>هي التكاليف التي يتغير مجموعها بشكل مباشر ومتناسب مع التغير في حجم الإنتاج أو النشاط. أما نصيب الوحدة الواحدة من التكلفة المتغيرة فيبقى ثابتًا.</a:t>
            </a:r>
          </a:p>
          <a:p>
            <a:pPr algn="r" rtl="1">
              <a:lnSpc>
                <a:spcPct val="150000"/>
              </a:lnSpc>
            </a:pPr>
            <a:r>
              <a:rPr lang="ar-JO" b="1" i="0" dirty="0">
                <a:solidFill>
                  <a:srgbClr val="374151"/>
                </a:solidFill>
                <a:effectLst/>
                <a:latin typeface="LamaSans"/>
              </a:rPr>
              <a:t>أمثلة:</a:t>
            </a:r>
            <a:r>
              <a:rPr lang="ar-JO" b="0" i="0" dirty="0">
                <a:solidFill>
                  <a:srgbClr val="374151"/>
                </a:solidFill>
                <a:effectLst/>
                <a:latin typeface="LamaSans"/>
              </a:rPr>
              <a:t> تكلفة المواد الخام المستخدمة في الإنتاج، أجور العمالة المباشرة بالساعة أو بالقطعة، تكاليف التعبئة والتغليف، عمولات البيع.</a:t>
            </a:r>
          </a:p>
          <a:p>
            <a:pPr algn="r" rtl="1" fontAlgn="base">
              <a:lnSpc>
                <a:spcPct val="150000"/>
              </a:lnSpc>
              <a:buFont typeface="Arial" panose="020B0604020202020204" pitchFamily="34" charset="0"/>
              <a:buChar char="•"/>
            </a:pPr>
            <a:r>
              <a:rPr lang="ar-JO" b="1" i="0" u="sng" dirty="0">
                <a:solidFill>
                  <a:srgbClr val="1B63FF"/>
                </a:solidFill>
                <a:effectLst/>
                <a:latin typeface="LamaSans"/>
                <a:hlinkClick r:id="rId2"/>
              </a:rPr>
              <a:t>التكاليف شبه المتغيرة</a:t>
            </a:r>
            <a:r>
              <a:rPr lang="ar-JO" b="1" i="0" dirty="0">
                <a:solidFill>
                  <a:srgbClr val="374151"/>
                </a:solidFill>
                <a:effectLst/>
                <a:latin typeface="LamaSans"/>
              </a:rPr>
              <a:t> (</a:t>
            </a:r>
            <a:r>
              <a:rPr lang="en-US" b="1" i="0" dirty="0">
                <a:solidFill>
                  <a:srgbClr val="374151"/>
                </a:solidFill>
                <a:effectLst/>
                <a:latin typeface="LamaSans"/>
              </a:rPr>
              <a:t>Semi-Variable Costs) </a:t>
            </a:r>
            <a:r>
              <a:rPr lang="ar-JO" b="1" i="0" dirty="0">
                <a:solidFill>
                  <a:srgbClr val="374151"/>
                </a:solidFill>
                <a:effectLst/>
                <a:latin typeface="LamaSans"/>
              </a:rPr>
              <a:t>أو المختلطة (</a:t>
            </a:r>
            <a:r>
              <a:rPr lang="en-US" b="1" i="0" dirty="0">
                <a:solidFill>
                  <a:srgbClr val="374151"/>
                </a:solidFill>
                <a:effectLst/>
                <a:latin typeface="LamaSans"/>
              </a:rPr>
              <a:t>Mixed Costs): </a:t>
            </a:r>
            <a:r>
              <a:rPr lang="ar-JO" b="1" i="0" dirty="0">
                <a:solidFill>
                  <a:srgbClr val="374151"/>
                </a:solidFill>
                <a:effectLst/>
                <a:latin typeface="LamaSans"/>
              </a:rPr>
              <a:t>هي التكاليف التي تحتوي على جزء ثابت وجزء متغير.</a:t>
            </a:r>
          </a:p>
          <a:p>
            <a:pPr marL="742950" lvl="1" indent="-285750" algn="r" rtl="1" fontAlgn="base">
              <a:lnSpc>
                <a:spcPct val="150000"/>
              </a:lnSpc>
              <a:buFont typeface="Arial" panose="020B0604020202020204" pitchFamily="34" charset="0"/>
              <a:buChar char="•"/>
            </a:pPr>
            <a:r>
              <a:rPr lang="ar-JO" b="1" i="0" dirty="0">
                <a:solidFill>
                  <a:srgbClr val="374151"/>
                </a:solidFill>
                <a:effectLst/>
                <a:latin typeface="LamaSans"/>
              </a:rPr>
              <a:t>أمثلة: فاتورة الهاتف (رسوم اشتراك ثابتة ورسوم مكالمات متغيرة حسب الاستخدام)، تكاليف الصيانة (راتب فني ثابت وتكاليف قطع غيار متغيرة حسب الحاجة).</a:t>
            </a:r>
          </a:p>
        </p:txBody>
      </p:sp>
    </p:spTree>
    <p:extLst>
      <p:ext uri="{BB962C8B-B14F-4D97-AF65-F5344CB8AC3E}">
        <p14:creationId xmlns:p14="http://schemas.microsoft.com/office/powerpoint/2010/main" val="3410112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7D4850F7-101D-E0AC-7749-D27DF46A0F92}"/>
              </a:ext>
            </a:extLst>
          </p:cNvPr>
          <p:cNvSpPr>
            <a:spLocks noGrp="1"/>
          </p:cNvSpPr>
          <p:nvPr>
            <p:ph idx="1"/>
          </p:nvPr>
        </p:nvSpPr>
        <p:spPr/>
        <p:txBody>
          <a:bodyPr/>
          <a:lstStyle/>
          <a:p>
            <a:pPr marL="0" indent="0">
              <a:buNone/>
            </a:pPr>
            <a:endParaRPr lang="ar-JO" b="1" i="0" dirty="0">
              <a:solidFill>
                <a:srgbClr val="0B143A"/>
              </a:solidFill>
              <a:effectLst/>
              <a:latin typeface="LamaSans"/>
            </a:endParaRPr>
          </a:p>
          <a:p>
            <a:pPr marL="0" indent="0">
              <a:buNone/>
            </a:pPr>
            <a:r>
              <a:rPr lang="ar-JO" b="1" i="0" dirty="0">
                <a:solidFill>
                  <a:srgbClr val="0B143A"/>
                </a:solidFill>
                <a:effectLst/>
                <a:latin typeface="LamaSans"/>
              </a:rPr>
              <a:t>أنواع التكاليف في محاسبة التكاليف</a:t>
            </a:r>
          </a:p>
          <a:p>
            <a:pPr algn="r"/>
            <a:endParaRPr lang="en-US" dirty="0"/>
          </a:p>
        </p:txBody>
      </p:sp>
      <p:sp>
        <p:nvSpPr>
          <p:cNvPr id="3" name="عنوان 2">
            <a:extLst>
              <a:ext uri="{FF2B5EF4-FFF2-40B4-BE49-F238E27FC236}">
                <a16:creationId xmlns:a16="http://schemas.microsoft.com/office/drawing/2014/main" id="{CDC89EDA-DB5F-8456-1EDC-D869B260281C}"/>
              </a:ext>
            </a:extLst>
          </p:cNvPr>
          <p:cNvSpPr>
            <a:spLocks noGrp="1"/>
          </p:cNvSpPr>
          <p:nvPr>
            <p:ph type="title"/>
          </p:nvPr>
        </p:nvSpPr>
        <p:spPr/>
        <p:txBody>
          <a:bodyPr/>
          <a:lstStyle/>
          <a:p>
            <a:endParaRPr lang="en-US" dirty="0"/>
          </a:p>
        </p:txBody>
      </p:sp>
      <p:sp>
        <p:nvSpPr>
          <p:cNvPr id="5" name="مربع نص 4">
            <a:extLst>
              <a:ext uri="{FF2B5EF4-FFF2-40B4-BE49-F238E27FC236}">
                <a16:creationId xmlns:a16="http://schemas.microsoft.com/office/drawing/2014/main" id="{E10003DC-743F-56AA-C277-8C0DCB8DA1C5}"/>
              </a:ext>
            </a:extLst>
          </p:cNvPr>
          <p:cNvSpPr txBox="1"/>
          <p:nvPr/>
        </p:nvSpPr>
        <p:spPr>
          <a:xfrm>
            <a:off x="1320282" y="1035698"/>
            <a:ext cx="10119050" cy="4733475"/>
          </a:xfrm>
          <a:prstGeom prst="rect">
            <a:avLst/>
          </a:prstGeom>
          <a:noFill/>
        </p:spPr>
        <p:txBody>
          <a:bodyPr wrap="square">
            <a:spAutoFit/>
          </a:bodyPr>
          <a:lstStyle/>
          <a:p>
            <a:pPr algn="r" rtl="1">
              <a:lnSpc>
                <a:spcPct val="150000"/>
              </a:lnSpc>
              <a:spcBef>
                <a:spcPts val="2100"/>
              </a:spcBef>
              <a:spcAft>
                <a:spcPts val="900"/>
              </a:spcAft>
            </a:pPr>
            <a:r>
              <a:rPr lang="ar-JO" b="1" i="0" dirty="0">
                <a:solidFill>
                  <a:srgbClr val="0B143A"/>
                </a:solidFill>
                <a:effectLst/>
                <a:latin typeface="LamaSans"/>
              </a:rPr>
              <a:t>3. التكاليف حسب وظائف المنشأة:</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الصناعية (</a:t>
            </a:r>
            <a:r>
              <a:rPr lang="en-US" b="1" i="0" dirty="0">
                <a:solidFill>
                  <a:srgbClr val="374151"/>
                </a:solidFill>
                <a:effectLst/>
                <a:latin typeface="LamaSans"/>
              </a:rPr>
              <a:t>Manufacturing Costs): </a:t>
            </a:r>
            <a:r>
              <a:rPr lang="ar-JO" b="1" i="0" dirty="0">
                <a:solidFill>
                  <a:srgbClr val="374151"/>
                </a:solidFill>
                <a:effectLst/>
                <a:latin typeface="LamaSans"/>
              </a:rPr>
              <a:t>هي التكاليف المرتبطة بعملية إنتاج السلع. وتنقسم إلى:</a:t>
            </a:r>
          </a:p>
          <a:p>
            <a:pPr marL="742950" lvl="1" indent="-285750" algn="r" rtl="1" fontAlgn="base">
              <a:lnSpc>
                <a:spcPct val="150000"/>
              </a:lnSpc>
              <a:buFont typeface="Arial" panose="020B0604020202020204" pitchFamily="34" charset="0"/>
              <a:buChar char="•"/>
            </a:pPr>
            <a:r>
              <a:rPr lang="ar-JO" b="1" i="0" dirty="0">
                <a:solidFill>
                  <a:srgbClr val="374151"/>
                </a:solidFill>
                <a:effectLst/>
                <a:latin typeface="LamaSans"/>
              </a:rPr>
              <a:t>تكلفة المواد المباشرة: تكلفة المواد الخام الأساسية التي تدخل بشكل مباشر في تصنيع المنتج.</a:t>
            </a:r>
          </a:p>
          <a:p>
            <a:pPr marL="742950" lvl="1" indent="-285750" algn="r" rtl="1" fontAlgn="base">
              <a:lnSpc>
                <a:spcPct val="150000"/>
              </a:lnSpc>
              <a:buFont typeface="Arial" panose="020B0604020202020204" pitchFamily="34" charset="0"/>
              <a:buChar char="•"/>
            </a:pPr>
            <a:r>
              <a:rPr lang="ar-JO" b="1" i="0" dirty="0">
                <a:solidFill>
                  <a:srgbClr val="374151"/>
                </a:solidFill>
                <a:effectLst/>
                <a:latin typeface="LamaSans"/>
              </a:rPr>
              <a:t>تكلفة العمالة المباشرة: أجور ورواتب العمال الذين يعملون بشكل مباشر على إنتاج المنتج.</a:t>
            </a:r>
          </a:p>
          <a:p>
            <a:pPr marL="742950" lvl="1" indent="-285750"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الصناعية غير المباشرة (</a:t>
            </a:r>
            <a:r>
              <a:rPr lang="en-US" b="1" i="0" dirty="0">
                <a:solidFill>
                  <a:srgbClr val="374151"/>
                </a:solidFill>
                <a:effectLst/>
                <a:latin typeface="LamaSans"/>
              </a:rPr>
              <a:t>Overhead Costs): </a:t>
            </a:r>
            <a:r>
              <a:rPr lang="ar-JO" b="1" i="0" dirty="0">
                <a:solidFill>
                  <a:srgbClr val="374151"/>
                </a:solidFill>
                <a:effectLst/>
                <a:latin typeface="LamaSans"/>
              </a:rPr>
              <a:t>جميع تكاليف التصنيع الأخرى التي لا تعتبر مواد مباشرة أو عمالة مباشرة (مثل إيجار المصنع، رواتب المشرفين، مواد غير مباشرة، وقود وزيوت الآلات، استهلاك الآلات).</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التسويقية (</a:t>
            </a:r>
            <a:r>
              <a:rPr lang="en-US" b="1" i="0" dirty="0">
                <a:solidFill>
                  <a:srgbClr val="374151"/>
                </a:solidFill>
                <a:effectLst/>
                <a:latin typeface="LamaSans"/>
              </a:rPr>
              <a:t>Marketing Costs): </a:t>
            </a:r>
            <a:r>
              <a:rPr lang="ar-JO" b="1" i="0" dirty="0">
                <a:solidFill>
                  <a:srgbClr val="374151"/>
                </a:solidFill>
                <a:effectLst/>
                <a:latin typeface="LamaSans"/>
              </a:rPr>
              <a:t>هي التكاليف المرتبطة بجهود تسويق وبيع المنتجات أو الخدمات (مثل تكاليف الإعلان، رواتب مندوبي المبيعات، تكاليف التوزيع).</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الإدارية (</a:t>
            </a:r>
            <a:r>
              <a:rPr lang="en-US" b="1" i="0" dirty="0">
                <a:solidFill>
                  <a:srgbClr val="374151"/>
                </a:solidFill>
                <a:effectLst/>
                <a:latin typeface="LamaSans"/>
              </a:rPr>
              <a:t>Administrative Costs): </a:t>
            </a:r>
            <a:r>
              <a:rPr lang="ar-JO" b="1" i="0" dirty="0">
                <a:solidFill>
                  <a:srgbClr val="374151"/>
                </a:solidFill>
                <a:effectLst/>
                <a:latin typeface="LamaSans"/>
              </a:rPr>
              <a:t>هي التكاليف المرتبطة بإدارة المنشأة بشكل عام وليس لها علاقة مباشرة بالإنتاج أو التسويق (مثل رواتب الإدارة العليا، تكاليف المحاسبة والقانونية، إيجار المكاتب الإدارية).</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التمويلية (</a:t>
            </a:r>
            <a:r>
              <a:rPr lang="en-US" b="1" i="0" dirty="0">
                <a:solidFill>
                  <a:srgbClr val="374151"/>
                </a:solidFill>
                <a:effectLst/>
                <a:latin typeface="LamaSans"/>
              </a:rPr>
              <a:t>Financing Costs): </a:t>
            </a:r>
            <a:r>
              <a:rPr lang="ar-JO" b="1" i="0" dirty="0">
                <a:solidFill>
                  <a:srgbClr val="374151"/>
                </a:solidFill>
                <a:effectLst/>
                <a:latin typeface="LamaSans"/>
              </a:rPr>
              <a:t>هي التكاليف المرتبطة بالحصول على التمويل واستخدامه (مثل فوائد القروض).</a:t>
            </a:r>
          </a:p>
        </p:txBody>
      </p:sp>
    </p:spTree>
    <p:extLst>
      <p:ext uri="{BB962C8B-B14F-4D97-AF65-F5344CB8AC3E}">
        <p14:creationId xmlns:p14="http://schemas.microsoft.com/office/powerpoint/2010/main" val="446428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940E760F-335C-BDDB-AC12-3A924A8DA336}"/>
              </a:ext>
            </a:extLst>
          </p:cNvPr>
          <p:cNvSpPr>
            <a:spLocks noGrp="1"/>
          </p:cNvSpPr>
          <p:nvPr>
            <p:ph idx="1"/>
          </p:nvPr>
        </p:nvSpPr>
        <p:spPr/>
        <p:txBody>
          <a:bodyPr/>
          <a:lstStyle/>
          <a:p>
            <a:endParaRPr lang="en-US" dirty="0"/>
          </a:p>
        </p:txBody>
      </p:sp>
      <p:sp>
        <p:nvSpPr>
          <p:cNvPr id="3" name="عنوان 2">
            <a:extLst>
              <a:ext uri="{FF2B5EF4-FFF2-40B4-BE49-F238E27FC236}">
                <a16:creationId xmlns:a16="http://schemas.microsoft.com/office/drawing/2014/main" id="{15C61227-D320-089B-C217-2B63984D2EDF}"/>
              </a:ext>
            </a:extLst>
          </p:cNvPr>
          <p:cNvSpPr>
            <a:spLocks noGrp="1"/>
          </p:cNvSpPr>
          <p:nvPr>
            <p:ph type="title"/>
          </p:nvPr>
        </p:nvSpPr>
        <p:spPr/>
        <p:txBody>
          <a:bodyPr/>
          <a:lstStyle/>
          <a:p>
            <a:r>
              <a:rPr lang="ar-JO" b="1" i="0" dirty="0">
                <a:solidFill>
                  <a:srgbClr val="0B143A"/>
                </a:solidFill>
                <a:effectLst/>
                <a:latin typeface="LamaSans"/>
              </a:rPr>
              <a:t>أنواع التكاليف في محاسبة التكاليف</a:t>
            </a:r>
            <a:br>
              <a:rPr lang="ar-JO" b="1" i="0" dirty="0">
                <a:solidFill>
                  <a:srgbClr val="0B143A"/>
                </a:solidFill>
                <a:effectLst/>
                <a:latin typeface="LamaSans"/>
              </a:rPr>
            </a:br>
            <a:endParaRPr lang="en-US" dirty="0"/>
          </a:p>
        </p:txBody>
      </p:sp>
      <p:sp>
        <p:nvSpPr>
          <p:cNvPr id="5" name="مربع نص 4">
            <a:extLst>
              <a:ext uri="{FF2B5EF4-FFF2-40B4-BE49-F238E27FC236}">
                <a16:creationId xmlns:a16="http://schemas.microsoft.com/office/drawing/2014/main" id="{3EB1F186-7462-4BC6-7A5C-7C845B423A55}"/>
              </a:ext>
            </a:extLst>
          </p:cNvPr>
          <p:cNvSpPr txBox="1"/>
          <p:nvPr/>
        </p:nvSpPr>
        <p:spPr>
          <a:xfrm>
            <a:off x="1320282" y="765110"/>
            <a:ext cx="9932436" cy="6717223"/>
          </a:xfrm>
          <a:prstGeom prst="rect">
            <a:avLst/>
          </a:prstGeom>
          <a:noFill/>
        </p:spPr>
        <p:txBody>
          <a:bodyPr wrap="square">
            <a:spAutoFit/>
          </a:bodyPr>
          <a:lstStyle/>
          <a:p>
            <a:pPr algn="r" rtl="1">
              <a:lnSpc>
                <a:spcPct val="150000"/>
              </a:lnSpc>
              <a:spcBef>
                <a:spcPts val="2100"/>
              </a:spcBef>
              <a:spcAft>
                <a:spcPts val="900"/>
              </a:spcAft>
            </a:pPr>
            <a:r>
              <a:rPr lang="ar-JO" b="1" i="0" dirty="0">
                <a:solidFill>
                  <a:srgbClr val="0B143A"/>
                </a:solidFill>
                <a:effectLst/>
                <a:latin typeface="LamaSans"/>
              </a:rPr>
              <a:t>. أنواع أخرى من التكاليف:</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المعيارية (</a:t>
            </a:r>
            <a:r>
              <a:rPr lang="en-US" b="1" i="0" dirty="0">
                <a:solidFill>
                  <a:srgbClr val="374151"/>
                </a:solidFill>
                <a:effectLst/>
                <a:latin typeface="LamaSans"/>
              </a:rPr>
              <a:t>Standard Costs): </a:t>
            </a:r>
            <a:r>
              <a:rPr lang="ar-JO" b="1" i="0" dirty="0">
                <a:solidFill>
                  <a:srgbClr val="374151"/>
                </a:solidFill>
                <a:effectLst/>
                <a:latin typeface="LamaSans"/>
              </a:rPr>
              <a:t>هي التكاليف المقدرة أو المحددة مسبقًا لوحدة المنتج أو النشاط، وتستخدم كمعيار للمقارنة مع التكاليف الفعلية وتقييم الأداء.</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الفعلية (</a:t>
            </a:r>
            <a:r>
              <a:rPr lang="en-US" b="1" i="0" dirty="0">
                <a:solidFill>
                  <a:srgbClr val="374151"/>
                </a:solidFill>
                <a:effectLst/>
                <a:latin typeface="LamaSans"/>
              </a:rPr>
              <a:t>Actual Costs): </a:t>
            </a:r>
            <a:r>
              <a:rPr lang="ar-JO" b="1" i="0" dirty="0">
                <a:solidFill>
                  <a:srgbClr val="374151"/>
                </a:solidFill>
                <a:effectLst/>
                <a:latin typeface="LamaSans"/>
              </a:rPr>
              <a:t>هي التكاليف التي تم تكبدها بالفعل خلال فترة زمنية معينة.</a:t>
            </a:r>
          </a:p>
          <a:p>
            <a:pPr algn="r" rtl="1" fontAlgn="base">
              <a:lnSpc>
                <a:spcPct val="150000"/>
              </a:lnSpc>
              <a:buFont typeface="Arial" panose="020B0604020202020204" pitchFamily="34" charset="0"/>
              <a:buChar char="•"/>
            </a:pPr>
            <a:r>
              <a:rPr lang="ar-JO" b="1" i="0" u="sng" dirty="0">
                <a:solidFill>
                  <a:srgbClr val="1B63FF"/>
                </a:solidFill>
                <a:effectLst/>
                <a:latin typeface="LamaSans"/>
                <a:hlinkClick r:id="rId2"/>
              </a:rPr>
              <a:t>تكلفة الفرصة البديلة</a:t>
            </a:r>
            <a:r>
              <a:rPr lang="ar-JO" b="1" i="0" dirty="0">
                <a:solidFill>
                  <a:srgbClr val="374151"/>
                </a:solidFill>
                <a:effectLst/>
                <a:latin typeface="LamaSans"/>
              </a:rPr>
              <a:t> (</a:t>
            </a:r>
            <a:r>
              <a:rPr lang="en-US" b="1" i="0" dirty="0">
                <a:solidFill>
                  <a:srgbClr val="374151"/>
                </a:solidFill>
                <a:effectLst/>
                <a:latin typeface="LamaSans"/>
              </a:rPr>
              <a:t>Opportunity Cost): </a:t>
            </a:r>
            <a:r>
              <a:rPr lang="ar-JO" b="1" i="0" dirty="0">
                <a:solidFill>
                  <a:srgbClr val="374151"/>
                </a:solidFill>
                <a:effectLst/>
                <a:latin typeface="LamaSans"/>
              </a:rPr>
              <a:t>هي قيمة المنفعة أو العائد المفقود نتيجة لاختيار بديل معين على بديل آخر. لا تظهر هذه التكلفة عادة في السجلات المحاسبية ولكنها مهمة في اتخاذ القرارات.</a:t>
            </a:r>
          </a:p>
          <a:p>
            <a:pPr algn="r" rtl="1" fontAlgn="base">
              <a:lnSpc>
                <a:spcPct val="150000"/>
              </a:lnSpc>
              <a:buFont typeface="Arial" panose="020B0604020202020204" pitchFamily="34" charset="0"/>
              <a:buChar char="•"/>
            </a:pPr>
            <a:r>
              <a:rPr lang="ar-JO" b="1" i="0" u="sng" dirty="0">
                <a:solidFill>
                  <a:srgbClr val="1B63FF"/>
                </a:solidFill>
                <a:effectLst/>
                <a:latin typeface="LamaSans"/>
                <a:hlinkClick r:id="rId3"/>
              </a:rPr>
              <a:t>التكاليف الغارقة</a:t>
            </a:r>
            <a:r>
              <a:rPr lang="ar-JO" b="1" i="0" dirty="0">
                <a:solidFill>
                  <a:srgbClr val="374151"/>
                </a:solidFill>
                <a:effectLst/>
                <a:latin typeface="LamaSans"/>
              </a:rPr>
              <a:t> (</a:t>
            </a:r>
            <a:r>
              <a:rPr lang="en-US" b="1" i="0" dirty="0">
                <a:solidFill>
                  <a:srgbClr val="374151"/>
                </a:solidFill>
                <a:effectLst/>
                <a:latin typeface="LamaSans"/>
              </a:rPr>
              <a:t>Sunk Costs): </a:t>
            </a:r>
            <a:r>
              <a:rPr lang="ar-JO" b="1" i="0" dirty="0">
                <a:solidFill>
                  <a:srgbClr val="374151"/>
                </a:solidFill>
                <a:effectLst/>
                <a:latin typeface="LamaSans"/>
              </a:rPr>
              <a:t>هي التكاليف التي تم إنفاقها بالفعل في الماضي ولا يمكن استردادها، وبالتالي لا ينبغي أن تؤثر على القرارات المستقبلية.</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التي يمكن تجنبها (</a:t>
            </a:r>
            <a:r>
              <a:rPr lang="en-US" b="1" i="0" dirty="0">
                <a:solidFill>
                  <a:srgbClr val="374151"/>
                </a:solidFill>
                <a:effectLst/>
                <a:latin typeface="LamaSans"/>
              </a:rPr>
              <a:t>Avoidable Costs): </a:t>
            </a:r>
            <a:r>
              <a:rPr lang="ar-JO" b="1" i="0" dirty="0">
                <a:solidFill>
                  <a:srgbClr val="374151"/>
                </a:solidFill>
                <a:effectLst/>
                <a:latin typeface="LamaSans"/>
              </a:rPr>
              <a:t>هي التكاليف التي يمكن للشركة تجنبها إذا اتخذت قرارًا معينًا (مثل إيقاف إنتاج منتج معين).</a:t>
            </a:r>
          </a:p>
          <a:p>
            <a:pPr algn="r" rtl="1" fontAlgn="base">
              <a:lnSpc>
                <a:spcPct val="150000"/>
              </a:lnSpc>
              <a:buFont typeface="Arial" panose="020B0604020202020204" pitchFamily="34" charset="0"/>
              <a:buChar char="•"/>
            </a:pPr>
            <a:r>
              <a:rPr lang="ar-JO" b="1" i="0" dirty="0">
                <a:solidFill>
                  <a:srgbClr val="374151"/>
                </a:solidFill>
                <a:effectLst/>
                <a:latin typeface="LamaSans"/>
              </a:rPr>
              <a:t>التكاليف التي لا يمكن تجنبها (</a:t>
            </a:r>
            <a:r>
              <a:rPr lang="en-US" b="1" i="0" dirty="0">
                <a:solidFill>
                  <a:srgbClr val="374151"/>
                </a:solidFill>
                <a:effectLst/>
                <a:latin typeface="LamaSans"/>
              </a:rPr>
              <a:t>Unavoidable Costs): </a:t>
            </a:r>
            <a:r>
              <a:rPr lang="ar-JO" b="1" i="0" dirty="0">
                <a:solidFill>
                  <a:srgbClr val="374151"/>
                </a:solidFill>
                <a:effectLst/>
                <a:latin typeface="LamaSans"/>
              </a:rPr>
              <a:t>هي التكاليف التي ستستمر الشركة في تحملها بغض النظر عن قرار معين (مثل جزء من الإيجار طويل الأجل).</a:t>
            </a:r>
          </a:p>
          <a:p>
            <a:pPr algn="r" rtl="1" fontAlgn="base">
              <a:lnSpc>
                <a:spcPct val="150000"/>
              </a:lnSpc>
              <a:buFont typeface="Arial" panose="020B0604020202020204" pitchFamily="34" charset="0"/>
              <a:buChar char="•"/>
            </a:pPr>
            <a:endParaRPr lang="ar-JO" b="1" dirty="0">
              <a:solidFill>
                <a:srgbClr val="374151"/>
              </a:solidFill>
              <a:latin typeface="LamaSans"/>
            </a:endParaRPr>
          </a:p>
          <a:p>
            <a:pPr algn="r" rtl="1" fontAlgn="base">
              <a:lnSpc>
                <a:spcPct val="150000"/>
              </a:lnSpc>
              <a:buFont typeface="Arial" panose="020B0604020202020204" pitchFamily="34" charset="0"/>
              <a:buChar char="•"/>
            </a:pPr>
            <a:r>
              <a:rPr lang="ar-JO" b="0" i="0" dirty="0">
                <a:solidFill>
                  <a:srgbClr val="FF0000"/>
                </a:solidFill>
                <a:effectLst/>
                <a:latin typeface="LamaSans"/>
              </a:rPr>
              <a:t>فهم هذه الأنواع المختلفة من التكاليف يساعد المحاسبين والمديرين على تحليل الأداء، اتخاذ القرارات التسعيرية والإنتاجية، والرقابة على المصروفات بكفاءة أكبر، وهو الأساس الذي تُبنى عليه على المنشآت التجارية والصناعية.</a:t>
            </a:r>
            <a:endParaRPr lang="ar-JO" b="1" i="0" dirty="0">
              <a:solidFill>
                <a:srgbClr val="FF0000"/>
              </a:solidFill>
              <a:effectLst/>
              <a:latin typeface="LamaSans"/>
            </a:endParaRPr>
          </a:p>
          <a:p>
            <a:pPr algn="r" fontAlgn="base">
              <a:buFont typeface="Arial" panose="020B0604020202020204" pitchFamily="34" charset="0"/>
              <a:buChar char="•"/>
            </a:pPr>
            <a:endParaRPr lang="ar-JO" b="1" i="0" dirty="0">
              <a:solidFill>
                <a:srgbClr val="374151"/>
              </a:solidFill>
              <a:effectLst/>
              <a:latin typeface="LamaSans"/>
            </a:endParaRPr>
          </a:p>
        </p:txBody>
      </p:sp>
    </p:spTree>
    <p:extLst>
      <p:ext uri="{BB962C8B-B14F-4D97-AF65-F5344CB8AC3E}">
        <p14:creationId xmlns:p14="http://schemas.microsoft.com/office/powerpoint/2010/main" val="28094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6B63794A-0B82-CA07-19CD-15CD4FB7E4F2}"/>
              </a:ext>
            </a:extLst>
          </p:cNvPr>
          <p:cNvSpPr>
            <a:spLocks noGrp="1"/>
          </p:cNvSpPr>
          <p:nvPr>
            <p:ph idx="1"/>
          </p:nvPr>
        </p:nvSpPr>
        <p:spPr/>
        <p:txBody>
          <a:bodyPr/>
          <a:lstStyle/>
          <a:p>
            <a:endParaRPr lang="ar-SA"/>
          </a:p>
        </p:txBody>
      </p:sp>
      <p:sp>
        <p:nvSpPr>
          <p:cNvPr id="3" name="عنوان 2">
            <a:extLst>
              <a:ext uri="{FF2B5EF4-FFF2-40B4-BE49-F238E27FC236}">
                <a16:creationId xmlns:a16="http://schemas.microsoft.com/office/drawing/2014/main" id="{E2A18A20-A1B4-2764-5B2C-B62F8ADD1D48}"/>
              </a:ext>
            </a:extLst>
          </p:cNvPr>
          <p:cNvSpPr>
            <a:spLocks noGrp="1"/>
          </p:cNvSpPr>
          <p:nvPr>
            <p:ph type="title"/>
          </p:nvPr>
        </p:nvSpPr>
        <p:spPr/>
        <p:txBody>
          <a:bodyPr/>
          <a:lstStyle/>
          <a:p>
            <a:endParaRPr lang="ar-SA"/>
          </a:p>
        </p:txBody>
      </p:sp>
      <p:sp>
        <p:nvSpPr>
          <p:cNvPr id="5" name="مربع نص 4">
            <a:extLst>
              <a:ext uri="{FF2B5EF4-FFF2-40B4-BE49-F238E27FC236}">
                <a16:creationId xmlns:a16="http://schemas.microsoft.com/office/drawing/2014/main" id="{14E89FAC-AFFD-36C6-84DB-315B0B26F9FE}"/>
              </a:ext>
            </a:extLst>
          </p:cNvPr>
          <p:cNvSpPr txBox="1"/>
          <p:nvPr/>
        </p:nvSpPr>
        <p:spPr>
          <a:xfrm>
            <a:off x="1320800" y="720585"/>
            <a:ext cx="7247466" cy="5183150"/>
          </a:xfrm>
          <a:prstGeom prst="rect">
            <a:avLst/>
          </a:prstGeom>
          <a:noFill/>
        </p:spPr>
        <p:txBody>
          <a:bodyPr wrap="square">
            <a:spAutoFit/>
          </a:bodyPr>
          <a:lstStyle/>
          <a:p>
            <a:pPr marL="0" indent="0" algn="r" rtl="1">
              <a:lnSpc>
                <a:spcPct val="150000"/>
              </a:lnSpc>
              <a:tabLst>
                <a:tab pos="8077200" algn="l"/>
              </a:tabLst>
            </a:pPr>
            <a:r>
              <a:rPr lang="ar-SA" sz="2800" b="0" kern="1200" dirty="0">
                <a:solidFill>
                  <a:srgbClr val="FF0000"/>
                </a:solidFill>
                <a:latin typeface="+mn-lt"/>
                <a:ea typeface="+mn-ea"/>
                <a:cs typeface="+mn-cs"/>
              </a:rPr>
              <a:t>4-الموازنات التخطيطية</a:t>
            </a:r>
            <a:r>
              <a:rPr lang="en-US" sz="2800" b="0" kern="1200" dirty="0">
                <a:solidFill>
                  <a:srgbClr val="FF0000"/>
                </a:solidFill>
                <a:latin typeface="+mn-lt"/>
                <a:ea typeface="+mn-ea"/>
                <a:cs typeface="+mn-cs"/>
              </a:rPr>
              <a:t>    Budgets    </a:t>
            </a:r>
          </a:p>
          <a:p>
            <a:pPr marL="0" indent="0" algn="r" rtl="1">
              <a:lnSpc>
                <a:spcPct val="150000"/>
              </a:lnSpc>
              <a:tabLst>
                <a:tab pos="8077200" algn="l"/>
              </a:tabLst>
            </a:pPr>
            <a:r>
              <a:rPr lang="ar-SA" sz="2800" b="0" kern="1200" dirty="0">
                <a:solidFill>
                  <a:schemeClr val="tx1"/>
                </a:solidFill>
                <a:latin typeface="+mn-lt"/>
                <a:ea typeface="+mn-ea"/>
                <a:cs typeface="+mn-cs"/>
              </a:rPr>
              <a:t>ظهرت الموازنات التخطيطية نتيجة لقصور التكاليف المعيارية في مجال التخطيط و الرقابة حيث تغطي جميع جوانب النشاط بالمنشأة من تكاليف و إيرادات و أصول و خصوم0</a:t>
            </a:r>
          </a:p>
          <a:p>
            <a:pPr marL="0" indent="0" algn="r" rtl="1">
              <a:lnSpc>
                <a:spcPct val="150000"/>
              </a:lnSpc>
              <a:tabLst>
                <a:tab pos="8077200" algn="l"/>
              </a:tabLst>
            </a:pPr>
            <a:r>
              <a:rPr lang="ar-SA" sz="2800" b="1" kern="1200" dirty="0">
                <a:solidFill>
                  <a:schemeClr val="tx1"/>
                </a:solidFill>
                <a:latin typeface="+mn-lt"/>
                <a:ea typeface="+mn-ea"/>
                <a:cs typeface="+mn-cs"/>
              </a:rPr>
              <a:t>أهم قواعد و إجراءات</a:t>
            </a:r>
            <a:r>
              <a:rPr lang="ar-SA" sz="2800" b="1" kern="1200" baseline="0" dirty="0">
                <a:solidFill>
                  <a:schemeClr val="tx1"/>
                </a:solidFill>
                <a:latin typeface="+mn-lt"/>
                <a:ea typeface="+mn-ea"/>
                <a:cs typeface="+mn-cs"/>
              </a:rPr>
              <a:t> الرقابة باستخدام الموازنة :</a:t>
            </a:r>
          </a:p>
          <a:p>
            <a:pPr marL="0" indent="0" algn="just" rtl="1">
              <a:lnSpc>
                <a:spcPct val="150000"/>
              </a:lnSpc>
              <a:tabLst>
                <a:tab pos="8077200" algn="l"/>
              </a:tabLst>
            </a:pPr>
            <a:r>
              <a:rPr lang="ar-SA" sz="2800" b="1" kern="1200" baseline="0" dirty="0">
                <a:solidFill>
                  <a:schemeClr val="tx1"/>
                </a:solidFill>
                <a:latin typeface="+mn-lt"/>
                <a:ea typeface="+mn-ea"/>
                <a:cs typeface="+mn-cs"/>
              </a:rPr>
              <a:t>-</a:t>
            </a:r>
            <a:r>
              <a:rPr lang="ar-SA" sz="2800" b="0" kern="1200" baseline="0" dirty="0">
                <a:solidFill>
                  <a:schemeClr val="tx1"/>
                </a:solidFill>
                <a:latin typeface="+mn-lt"/>
                <a:ea typeface="+mn-ea"/>
                <a:cs typeface="+mn-cs"/>
              </a:rPr>
              <a:t>تحديد مراكز المسئولية و الربط بينها و بين الهيكل التنظيمي للوحدة الاقتصادية و تحديد مراكز الموازنة التي تعد التقديرات على أساسها و تتم العملية وفقا لها.</a:t>
            </a:r>
            <a:endParaRPr lang="ar-SA" sz="2800" b="0" kern="1200" dirty="0">
              <a:solidFill>
                <a:schemeClr val="tx1"/>
              </a:solidFill>
              <a:latin typeface="+mn-lt"/>
              <a:ea typeface="+mn-ea"/>
              <a:cs typeface="+mn-cs"/>
            </a:endParaRPr>
          </a:p>
        </p:txBody>
      </p:sp>
    </p:spTree>
    <p:extLst>
      <p:ext uri="{BB962C8B-B14F-4D97-AF65-F5344CB8AC3E}">
        <p14:creationId xmlns:p14="http://schemas.microsoft.com/office/powerpoint/2010/main" val="2614017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B580BEA5-170B-81D1-434A-99A03118E50D}"/>
              </a:ext>
            </a:extLst>
          </p:cNvPr>
          <p:cNvSpPr>
            <a:spLocks noGrp="1"/>
          </p:cNvSpPr>
          <p:nvPr>
            <p:ph idx="1"/>
          </p:nvPr>
        </p:nvSpPr>
        <p:spPr/>
        <p:txBody>
          <a:bodyPr/>
          <a:lstStyle/>
          <a:p>
            <a:endParaRPr lang="ar-SA"/>
          </a:p>
        </p:txBody>
      </p:sp>
      <p:sp>
        <p:nvSpPr>
          <p:cNvPr id="3" name="عنوان 2">
            <a:extLst>
              <a:ext uri="{FF2B5EF4-FFF2-40B4-BE49-F238E27FC236}">
                <a16:creationId xmlns:a16="http://schemas.microsoft.com/office/drawing/2014/main" id="{1E8F42CF-3E7B-40F0-68B4-D867266E446B}"/>
              </a:ext>
            </a:extLst>
          </p:cNvPr>
          <p:cNvSpPr>
            <a:spLocks noGrp="1"/>
          </p:cNvSpPr>
          <p:nvPr>
            <p:ph type="title"/>
          </p:nvPr>
        </p:nvSpPr>
        <p:spPr/>
        <p:txBody>
          <a:bodyPr/>
          <a:lstStyle/>
          <a:p>
            <a:endParaRPr lang="ar-SA"/>
          </a:p>
        </p:txBody>
      </p:sp>
      <p:sp>
        <p:nvSpPr>
          <p:cNvPr id="5" name="مربع نص 4">
            <a:extLst>
              <a:ext uri="{FF2B5EF4-FFF2-40B4-BE49-F238E27FC236}">
                <a16:creationId xmlns:a16="http://schemas.microsoft.com/office/drawing/2014/main" id="{ACC46D17-C2F5-FD2A-EA2C-68001F35B10B}"/>
              </a:ext>
            </a:extLst>
          </p:cNvPr>
          <p:cNvSpPr txBox="1"/>
          <p:nvPr/>
        </p:nvSpPr>
        <p:spPr>
          <a:xfrm>
            <a:off x="1320800" y="720585"/>
            <a:ext cx="7247466" cy="5183150"/>
          </a:xfrm>
          <a:prstGeom prst="rect">
            <a:avLst/>
          </a:prstGeom>
          <a:noFill/>
        </p:spPr>
        <p:txBody>
          <a:bodyPr wrap="square">
            <a:spAutoFit/>
          </a:bodyPr>
          <a:lstStyle/>
          <a:p>
            <a:pPr marL="0" indent="0" algn="just" rtl="1">
              <a:lnSpc>
                <a:spcPct val="150000"/>
              </a:lnSpc>
              <a:tabLst>
                <a:tab pos="8077200" algn="l"/>
              </a:tabLst>
            </a:pPr>
            <a:r>
              <a:rPr lang="ar-SA" sz="2800" b="0" kern="1200" dirty="0">
                <a:solidFill>
                  <a:schemeClr val="tx1"/>
                </a:solidFill>
                <a:latin typeface="+mn-lt"/>
                <a:ea typeface="+mn-ea"/>
                <a:cs typeface="+mn-cs"/>
              </a:rPr>
              <a:t>ترجمة الاهداف المحددة في صورة جداول رقمية تقديرية مع تحقيق التنسيق بين الخطط الفرعية بهدف الوصول الى الخطة الشاملة التي تغطي كافة اوجه النشاط.</a:t>
            </a:r>
          </a:p>
          <a:p>
            <a:pPr marL="0" indent="0" algn="just" rtl="1">
              <a:lnSpc>
                <a:spcPct val="150000"/>
              </a:lnSpc>
              <a:buFontTx/>
              <a:buNone/>
              <a:tabLst>
                <a:tab pos="8077200" algn="l"/>
              </a:tabLst>
            </a:pPr>
            <a:r>
              <a:rPr lang="ar-SA" sz="2800" b="0" kern="1200" dirty="0">
                <a:solidFill>
                  <a:schemeClr val="tx1"/>
                </a:solidFill>
                <a:latin typeface="+mn-lt"/>
                <a:ea typeface="+mn-ea"/>
                <a:cs typeface="+mn-cs"/>
              </a:rPr>
              <a:t>- تقييم أداء كل مركز مسئولية بمقاربة النتائج الفعلية </a:t>
            </a:r>
            <a:r>
              <a:rPr lang="ar-SA" sz="2800" b="0" kern="1200" dirty="0" err="1">
                <a:solidFill>
                  <a:schemeClr val="tx1"/>
                </a:solidFill>
                <a:latin typeface="+mn-lt"/>
                <a:ea typeface="+mn-ea"/>
                <a:cs typeface="+mn-cs"/>
              </a:rPr>
              <a:t>بالارقام</a:t>
            </a:r>
            <a:r>
              <a:rPr lang="ar-SA" sz="2800" b="0" kern="1200" dirty="0">
                <a:solidFill>
                  <a:schemeClr val="tx1"/>
                </a:solidFill>
                <a:latin typeface="+mn-lt"/>
                <a:ea typeface="+mn-ea"/>
                <a:cs typeface="+mn-cs"/>
              </a:rPr>
              <a:t> المحددة في الموازنة و تحديد الانحرافات.</a:t>
            </a:r>
          </a:p>
          <a:p>
            <a:pPr marL="0" indent="0" algn="just" rtl="1">
              <a:lnSpc>
                <a:spcPct val="150000"/>
              </a:lnSpc>
              <a:buFontTx/>
              <a:buNone/>
              <a:tabLst>
                <a:tab pos="8077200" algn="l"/>
              </a:tabLst>
            </a:pPr>
            <a:r>
              <a:rPr lang="ar-SA" sz="2800" b="0" kern="1200" dirty="0">
                <a:solidFill>
                  <a:schemeClr val="tx1"/>
                </a:solidFill>
                <a:latin typeface="+mn-lt"/>
                <a:ea typeface="+mn-ea"/>
                <a:cs typeface="+mn-cs"/>
              </a:rPr>
              <a:t>- تحليل الانحرافات و التقرير عنها و التعرف على مسبباتها و تحديد المسئولين</a:t>
            </a:r>
            <a:r>
              <a:rPr lang="en-US" sz="2800" b="0" kern="1200" dirty="0">
                <a:solidFill>
                  <a:schemeClr val="tx1"/>
                </a:solidFill>
                <a:latin typeface="+mn-lt"/>
                <a:ea typeface="+mn-ea"/>
                <a:cs typeface="+mn-cs"/>
              </a:rPr>
              <a:t> </a:t>
            </a:r>
            <a:r>
              <a:rPr lang="ar-SA" sz="2800" b="0" kern="1200" dirty="0">
                <a:solidFill>
                  <a:schemeClr val="tx1"/>
                </a:solidFill>
                <a:latin typeface="+mn-lt"/>
                <a:ea typeface="+mn-ea"/>
                <a:cs typeface="+mn-cs"/>
              </a:rPr>
              <a:t>عنها و توجيه نظر الادارة الى صعوبة و مشاكل </a:t>
            </a:r>
            <a:r>
              <a:rPr lang="ar-SA" sz="2800" b="0" kern="1200" dirty="0" err="1">
                <a:solidFill>
                  <a:schemeClr val="tx1"/>
                </a:solidFill>
                <a:latin typeface="+mn-lt"/>
                <a:ea typeface="+mn-ea"/>
                <a:cs typeface="+mn-cs"/>
              </a:rPr>
              <a:t>التنفيد</a:t>
            </a:r>
            <a:r>
              <a:rPr lang="ar-SA" sz="2800" b="0" kern="1200" dirty="0">
                <a:solidFill>
                  <a:schemeClr val="tx1"/>
                </a:solidFill>
                <a:latin typeface="+mn-lt"/>
                <a:ea typeface="+mn-ea"/>
                <a:cs typeface="+mn-cs"/>
              </a:rPr>
              <a:t> و ارشادها الى مواطن الضعف و القصور</a:t>
            </a:r>
          </a:p>
        </p:txBody>
      </p:sp>
    </p:spTree>
    <p:extLst>
      <p:ext uri="{BB962C8B-B14F-4D97-AF65-F5344CB8AC3E}">
        <p14:creationId xmlns:p14="http://schemas.microsoft.com/office/powerpoint/2010/main" val="23890360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لمحتوى 1">
            <a:extLst>
              <a:ext uri="{FF2B5EF4-FFF2-40B4-BE49-F238E27FC236}">
                <a16:creationId xmlns:a16="http://schemas.microsoft.com/office/drawing/2014/main" id="{1815B156-0F10-843C-360A-92F2B57452F5}"/>
              </a:ext>
            </a:extLst>
          </p:cNvPr>
          <p:cNvSpPr>
            <a:spLocks noGrp="1"/>
          </p:cNvSpPr>
          <p:nvPr>
            <p:ph idx="1"/>
          </p:nvPr>
        </p:nvSpPr>
        <p:spPr/>
        <p:txBody>
          <a:bodyPr/>
          <a:lstStyle/>
          <a:p>
            <a:endParaRPr lang="ar-SA"/>
          </a:p>
        </p:txBody>
      </p:sp>
      <p:sp>
        <p:nvSpPr>
          <p:cNvPr id="3" name="عنوان 2">
            <a:extLst>
              <a:ext uri="{FF2B5EF4-FFF2-40B4-BE49-F238E27FC236}">
                <a16:creationId xmlns:a16="http://schemas.microsoft.com/office/drawing/2014/main" id="{C400A908-EA7A-47C7-D1EB-87FD2FB1B517}"/>
              </a:ext>
            </a:extLst>
          </p:cNvPr>
          <p:cNvSpPr>
            <a:spLocks noGrp="1"/>
          </p:cNvSpPr>
          <p:nvPr>
            <p:ph type="title"/>
          </p:nvPr>
        </p:nvSpPr>
        <p:spPr/>
        <p:txBody>
          <a:bodyPr/>
          <a:lstStyle/>
          <a:p>
            <a:endParaRPr lang="ar-SA"/>
          </a:p>
        </p:txBody>
      </p:sp>
      <p:sp>
        <p:nvSpPr>
          <p:cNvPr id="5" name="مربع نص 4">
            <a:extLst>
              <a:ext uri="{FF2B5EF4-FFF2-40B4-BE49-F238E27FC236}">
                <a16:creationId xmlns:a16="http://schemas.microsoft.com/office/drawing/2014/main" id="{21A82B2D-A532-9D44-2111-AC8D2B5A2BA0}"/>
              </a:ext>
            </a:extLst>
          </p:cNvPr>
          <p:cNvSpPr txBox="1"/>
          <p:nvPr/>
        </p:nvSpPr>
        <p:spPr>
          <a:xfrm>
            <a:off x="1320800" y="1366916"/>
            <a:ext cx="7247466" cy="3890489"/>
          </a:xfrm>
          <a:prstGeom prst="rect">
            <a:avLst/>
          </a:prstGeom>
          <a:noFill/>
        </p:spPr>
        <p:txBody>
          <a:bodyPr wrap="square">
            <a:spAutoFit/>
          </a:bodyPr>
          <a:lstStyle/>
          <a:p>
            <a:pPr marL="0" indent="0" algn="just" rtl="1">
              <a:lnSpc>
                <a:spcPct val="150000"/>
              </a:lnSpc>
              <a:tabLst>
                <a:tab pos="8077200" algn="l"/>
              </a:tabLst>
            </a:pPr>
            <a:r>
              <a:rPr lang="ar-SA" sz="2800" b="1" kern="1200" baseline="0" dirty="0">
                <a:solidFill>
                  <a:srgbClr val="FF0000"/>
                </a:solidFill>
                <a:latin typeface="+mn-lt"/>
                <a:ea typeface="+mn-ea"/>
                <a:cs typeface="+mn-cs"/>
              </a:rPr>
              <a:t>- الموازنة الثابتة</a:t>
            </a:r>
          </a:p>
          <a:p>
            <a:pPr marL="0" indent="0" algn="just" rtl="1">
              <a:lnSpc>
                <a:spcPct val="150000"/>
              </a:lnSpc>
              <a:tabLst>
                <a:tab pos="8077200" algn="l"/>
              </a:tabLst>
            </a:pPr>
            <a:r>
              <a:rPr lang="ar-SA" sz="2800" b="1" kern="1200" baseline="0" dirty="0">
                <a:solidFill>
                  <a:schemeClr val="tx1"/>
                </a:solidFill>
                <a:latin typeface="+mn-lt"/>
                <a:ea typeface="+mn-ea"/>
                <a:cs typeface="+mn-cs"/>
              </a:rPr>
              <a:t>ترتكز على حجم واحد للنشاط</a:t>
            </a:r>
          </a:p>
          <a:p>
            <a:pPr marL="0" indent="0" algn="just" rtl="1">
              <a:lnSpc>
                <a:spcPct val="150000"/>
              </a:lnSpc>
              <a:tabLst>
                <a:tab pos="8077200" algn="l"/>
              </a:tabLst>
            </a:pPr>
            <a:r>
              <a:rPr lang="ar-SA" sz="2800" b="0" dirty="0">
                <a:solidFill>
                  <a:schemeClr val="tx1"/>
                </a:solidFill>
              </a:rPr>
              <a:t> </a:t>
            </a:r>
            <a:r>
              <a:rPr lang="ar-SA" sz="2800" b="1" kern="1200" baseline="0" dirty="0">
                <a:solidFill>
                  <a:srgbClr val="FF0000"/>
                </a:solidFill>
                <a:latin typeface="+mn-lt"/>
                <a:ea typeface="+mn-ea"/>
                <a:cs typeface="+mn-cs"/>
              </a:rPr>
              <a:t>- الموازنة المرنة</a:t>
            </a:r>
          </a:p>
          <a:p>
            <a:pPr marL="0" marR="0" indent="0" algn="just" defTabSz="914400" rtl="1" eaLnBrk="1" fontAlgn="auto" latinLnBrk="0" hangingPunct="1">
              <a:lnSpc>
                <a:spcPct val="150000"/>
              </a:lnSpc>
              <a:spcBef>
                <a:spcPts val="0"/>
              </a:spcBef>
              <a:spcAft>
                <a:spcPts val="0"/>
              </a:spcAft>
              <a:buClrTx/>
              <a:buSzTx/>
              <a:buFontTx/>
              <a:buNone/>
              <a:tabLst>
                <a:tab pos="8077200" algn="l"/>
              </a:tabLst>
              <a:defRPr/>
            </a:pPr>
            <a:r>
              <a:rPr lang="ar-SA" sz="2800" b="1" kern="1200" baseline="0" dirty="0">
                <a:solidFill>
                  <a:schemeClr val="tx1"/>
                </a:solidFill>
                <a:latin typeface="+mn-lt"/>
                <a:ea typeface="+mn-ea"/>
                <a:cs typeface="+mn-cs"/>
              </a:rPr>
              <a:t>ترتكز على </a:t>
            </a:r>
            <a:r>
              <a:rPr lang="ar-SA" sz="2800" b="1" kern="1200" baseline="0" dirty="0" err="1">
                <a:solidFill>
                  <a:schemeClr val="tx1"/>
                </a:solidFill>
                <a:latin typeface="+mn-lt"/>
                <a:ea typeface="+mn-ea"/>
                <a:cs typeface="+mn-cs"/>
              </a:rPr>
              <a:t>عددة</a:t>
            </a:r>
            <a:r>
              <a:rPr lang="ar-SA" sz="2800" b="1" kern="1200" baseline="0" dirty="0">
                <a:solidFill>
                  <a:schemeClr val="tx1"/>
                </a:solidFill>
                <a:latin typeface="+mn-lt"/>
                <a:ea typeface="+mn-ea"/>
                <a:cs typeface="+mn-cs"/>
              </a:rPr>
              <a:t> حجوم أو مستويات من النشاط تمثل خطط بديلة تمكن من إجراء المقارنة بين التكاليف الفعلية و التكاليف المخططة لنفس مستوى النشاط و هو مستوى النشاط الفعلي</a:t>
            </a:r>
            <a:endParaRPr lang="ar-SA" sz="2800" b="0" kern="1200" dirty="0">
              <a:solidFill>
                <a:schemeClr val="tx1"/>
              </a:solidFill>
              <a:latin typeface="+mn-lt"/>
              <a:ea typeface="+mn-ea"/>
              <a:cs typeface="+mn-cs"/>
            </a:endParaRPr>
          </a:p>
        </p:txBody>
      </p:sp>
    </p:spTree>
    <p:extLst>
      <p:ext uri="{BB962C8B-B14F-4D97-AF65-F5344CB8AC3E}">
        <p14:creationId xmlns:p14="http://schemas.microsoft.com/office/powerpoint/2010/main" val="4142299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AE33A-0D4C-8D82-98F4-731298E2086E}"/>
            </a:ext>
          </a:extLst>
        </p:cNvPr>
        <p:cNvGrpSpPr/>
        <p:nvPr/>
      </p:nvGrpSpPr>
      <p:grpSpPr>
        <a:xfrm>
          <a:off x="0" y="0"/>
          <a:ext cx="0" cy="0"/>
          <a:chOff x="0" y="0"/>
          <a:chExt cx="0" cy="0"/>
        </a:xfrm>
      </p:grpSpPr>
      <p:sp>
        <p:nvSpPr>
          <p:cNvPr id="6" name="Rectangle 2">
            <a:extLst>
              <a:ext uri="{FF2B5EF4-FFF2-40B4-BE49-F238E27FC236}">
                <a16:creationId xmlns:a16="http://schemas.microsoft.com/office/drawing/2014/main" id="{AAA25DFC-9128-FF43-E70D-BA3E66BD56D7}"/>
              </a:ext>
            </a:extLst>
          </p:cNvPr>
          <p:cNvSpPr txBox="1">
            <a:spLocks noGrp="1" noChangeArrowheads="1"/>
          </p:cNvSpPr>
          <p:nvPr>
            <p:ph type="title"/>
          </p:nvPr>
        </p:nvSpPr>
        <p:spPr bwMode="auto">
          <a:xfrm>
            <a:off x="1981200" y="2355686"/>
            <a:ext cx="8229600" cy="939784"/>
          </a:xfrm>
          <a:prstGeom prst="rect">
            <a:avLst/>
          </a:prstGeom>
          <a:noFill/>
          <a:ln w="63500">
            <a:noFill/>
            <a:miter lim="800000"/>
            <a:headEnd/>
            <a:tailEnd/>
          </a:ln>
          <a:effectLst/>
        </p:spPr>
        <p:txBody>
          <a:bodyPr vert="horz" wrap="square" lIns="92075" tIns="46038" rIns="92075" bIns="46038" numCol="1" rtlCol="0" anchor="ctr" anchorCtr="0" compatLnSpc="1">
            <a:prstTxWarp prst="textNoShape">
              <a:avLst/>
            </a:prstTxWarp>
            <a:normAutofit fontScale="90000"/>
          </a:bodyPr>
          <a:lstStyle/>
          <a:p>
            <a:pPr lvl="0" algn="ctr" rtl="1" eaLnBrk="0" fontAlgn="base" hangingPunct="0">
              <a:spcAft>
                <a:spcPct val="0"/>
              </a:spcAft>
              <a:defRPr/>
            </a:pPr>
            <a:r>
              <a:rPr lang="ar-SA" sz="4800" b="1" kern="0" dirty="0">
                <a:solidFill>
                  <a:srgbClr val="FF0000"/>
                </a:solidFill>
                <a:latin typeface="Arial" panose="020B0604020202020204" pitchFamily="34" charset="0"/>
                <a:cs typeface="Arial" panose="020B0604020202020204" pitchFamily="34" charset="0"/>
              </a:rPr>
              <a:t>أسئلة للمناقشة والرد على الاستفسارات</a:t>
            </a:r>
            <a:br>
              <a:rPr lang="ar-JO" sz="4800" b="1" kern="0" dirty="0">
                <a:solidFill>
                  <a:srgbClr val="FF0000"/>
                </a:solidFill>
                <a:latin typeface="Arial" panose="020B0604020202020204" pitchFamily="34" charset="0"/>
                <a:cs typeface="Arial" panose="020B0604020202020204" pitchFamily="34" charset="0"/>
              </a:rPr>
            </a:br>
            <a:br>
              <a:rPr lang="ar-JO" sz="4800" b="1" kern="0" dirty="0">
                <a:solidFill>
                  <a:srgbClr val="FF0000"/>
                </a:solidFill>
                <a:latin typeface="Arial" panose="020B0604020202020204" pitchFamily="34" charset="0"/>
                <a:cs typeface="Arial" panose="020B0604020202020204" pitchFamily="34" charset="0"/>
              </a:rPr>
            </a:br>
            <a:br>
              <a:rPr lang="ar-JO" sz="4800" b="1" kern="0" dirty="0">
                <a:solidFill>
                  <a:srgbClr val="FF0000"/>
                </a:solidFill>
                <a:latin typeface="Arial" panose="020B0604020202020204" pitchFamily="34" charset="0"/>
                <a:cs typeface="Arial" panose="020B0604020202020204" pitchFamily="34" charset="0"/>
              </a:rPr>
            </a:br>
            <a:br>
              <a:rPr lang="ar-JO" sz="4800" b="1" kern="0" dirty="0">
                <a:solidFill>
                  <a:srgbClr val="FF0000"/>
                </a:solidFill>
                <a:latin typeface="Arial" panose="020B0604020202020204" pitchFamily="34" charset="0"/>
                <a:cs typeface="Arial" panose="020B0604020202020204" pitchFamily="34" charset="0"/>
              </a:rPr>
            </a:br>
            <a:endParaRPr lang="en-US" sz="4800" b="1" kern="0" dirty="0">
              <a:solidFill>
                <a:srgbClr val="FF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461D6B2-A308-B781-D1CF-F6BABE62877E}"/>
              </a:ext>
            </a:extLst>
          </p:cNvPr>
          <p:cNvSpPr>
            <a:spLocks noGrp="1"/>
          </p:cNvSpPr>
          <p:nvPr>
            <p:ph idx="1"/>
          </p:nvPr>
        </p:nvSpPr>
        <p:spPr>
          <a:xfrm>
            <a:off x="1809720" y="1357300"/>
            <a:ext cx="8572560" cy="4768865"/>
          </a:xfrm>
        </p:spPr>
        <p:txBody>
          <a:bodyPr>
            <a:normAutofit/>
          </a:bodyPr>
          <a:lstStyle/>
          <a:p>
            <a:pPr algn="r" rtl="1">
              <a:buNone/>
            </a:pPr>
            <a:endParaRPr lang="ar-SA" dirty="0"/>
          </a:p>
          <a:p>
            <a:pPr algn="r" rtl="1">
              <a:buNone/>
            </a:pPr>
            <a:endParaRPr lang="ar-SA" dirty="0"/>
          </a:p>
          <a:p>
            <a:pPr algn="r" rtl="1">
              <a:buNone/>
            </a:pPr>
            <a:r>
              <a:rPr lang="ar-JO" dirty="0"/>
              <a:t>مراجع الفصل :</a:t>
            </a:r>
          </a:p>
          <a:p>
            <a:pPr algn="r" rtl="1">
              <a:buNone/>
            </a:pPr>
            <a:endParaRPr lang="en-US" dirty="0"/>
          </a:p>
        </p:txBody>
      </p:sp>
      <p:sp>
        <p:nvSpPr>
          <p:cNvPr id="5" name="Slide Number Placeholder 4">
            <a:extLst>
              <a:ext uri="{FF2B5EF4-FFF2-40B4-BE49-F238E27FC236}">
                <a16:creationId xmlns:a16="http://schemas.microsoft.com/office/drawing/2014/main" id="{FDAE0881-A1ED-817B-ED33-28BE8C7207DD}"/>
              </a:ext>
            </a:extLst>
          </p:cNvPr>
          <p:cNvSpPr>
            <a:spLocks noGrp="1"/>
          </p:cNvSpPr>
          <p:nvPr>
            <p:ph type="sldNum" sz="quarter" idx="12"/>
          </p:nvPr>
        </p:nvSpPr>
        <p:spPr/>
        <p:txBody>
          <a:bodyPr/>
          <a:lstStyle/>
          <a:p>
            <a:pPr defTabSz="457200"/>
            <a:fld id="{0B34F065-1154-456A-91E3-76DE8E75E17B}" type="slidenum">
              <a:rPr lang="ar-SA">
                <a:solidFill>
                  <a:prstClr val="black"/>
                </a:solidFill>
                <a:latin typeface="Aptos" panose="02110004020202020204"/>
                <a:cs typeface="Arial" panose="020B0604020202020204" pitchFamily="34" charset="0"/>
              </a:rPr>
              <a:pPr defTabSz="457200"/>
              <a:t>21</a:t>
            </a:fld>
            <a:endParaRPr lang="ar-SA">
              <a:solidFill>
                <a:prstClr val="black"/>
              </a:solidFill>
              <a:latin typeface="Aptos" panose="02110004020202020204"/>
              <a:cs typeface="Arial" panose="020B0604020202020204" pitchFamily="34" charset="0"/>
            </a:endParaRPr>
          </a:p>
        </p:txBody>
      </p:sp>
      <p:sp>
        <p:nvSpPr>
          <p:cNvPr id="7" name="Footer Placeholder 3">
            <a:extLst>
              <a:ext uri="{FF2B5EF4-FFF2-40B4-BE49-F238E27FC236}">
                <a16:creationId xmlns:a16="http://schemas.microsoft.com/office/drawing/2014/main" id="{E219172C-BCD5-50D5-8F75-F53CF0AD5B12}"/>
              </a:ext>
            </a:extLst>
          </p:cNvPr>
          <p:cNvSpPr>
            <a:spLocks noGrp="1"/>
          </p:cNvSpPr>
          <p:nvPr>
            <p:ph type="ftr" sz="quarter" idx="11"/>
          </p:nvPr>
        </p:nvSpPr>
        <p:spPr>
          <a:xfrm>
            <a:off x="6168008" y="6407946"/>
            <a:ext cx="2880320" cy="365125"/>
          </a:xfrm>
        </p:spPr>
        <p:txBody>
          <a:bodyPr/>
          <a:lstStyle/>
          <a:p>
            <a:pPr defTabSz="457200"/>
            <a:endParaRPr lang="ar-SA" sz="1200" dirty="0">
              <a:solidFill>
                <a:prstClr val="black"/>
              </a:solidFill>
              <a:latin typeface="Aptos" panose="02110004020202020204"/>
              <a:cs typeface="Arial" panose="020B0604020202020204" pitchFamily="34" charset="0"/>
            </a:endParaRPr>
          </a:p>
        </p:txBody>
      </p:sp>
    </p:spTree>
    <p:extLst>
      <p:ext uri="{BB962C8B-B14F-4D97-AF65-F5344CB8AC3E}">
        <p14:creationId xmlns:p14="http://schemas.microsoft.com/office/powerpoint/2010/main" val="1808214174"/>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c1ca67-8093-4f5f-be97-d03fd07a04cf}" enabled="1" method="Standard" siteId="{f2d7a14d-e37f-49ef-9612-d01a29023c37}" contentBits="0" removed="0"/>
</clbl:labelList>
</file>

<file path=docProps/app.xml><?xml version="1.0" encoding="utf-8"?>
<Properties xmlns="http://schemas.openxmlformats.org/officeDocument/2006/extended-properties" xmlns:vt="http://schemas.openxmlformats.org/officeDocument/2006/docPropsVTypes">
  <TotalTime>327</TotalTime>
  <Words>1915</Words>
  <Application>Microsoft Office PowerPoint</Application>
  <PresentationFormat>شاشة عريضة</PresentationFormat>
  <Paragraphs>136</Paragraphs>
  <Slides>21</Slides>
  <Notes>5</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21</vt:i4>
      </vt:variant>
    </vt:vector>
  </HeadingPairs>
  <TitlesOfParts>
    <vt:vector size="30" baseType="lpstr">
      <vt:lpstr>Aptos</vt:lpstr>
      <vt:lpstr>Arial</vt:lpstr>
      <vt:lpstr>Berlin Sans FB Demi</vt:lpstr>
      <vt:lpstr>Comic Sans MS</vt:lpstr>
      <vt:lpstr>DIN NEXT™ ARABIC LIGHT</vt:lpstr>
      <vt:lpstr>DIN NEXT™ ARABIC MEDIUM</vt:lpstr>
      <vt:lpstr>LamaSans</vt:lpstr>
      <vt:lpstr>Neo Sans Arabic</vt:lpstr>
      <vt:lpstr>1_Office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تطور محاسبة التكاليف     </vt:lpstr>
      <vt:lpstr>محاسبة</vt:lpstr>
      <vt:lpstr>عرض تقديمي في PowerPoint</vt:lpstr>
      <vt:lpstr>عرض تقديمي في PowerPoint</vt:lpstr>
      <vt:lpstr>عرض تقديمي في PowerPoint</vt:lpstr>
      <vt:lpstr>عرض تقديمي في PowerPoint</vt:lpstr>
      <vt:lpstr> أنواع التكاليف في محاسبة التكاليف </vt:lpstr>
      <vt:lpstr>أنواع التكاليف في محاسبة التكاليف </vt:lpstr>
      <vt:lpstr>عرض تقديمي في PowerPoint</vt:lpstr>
      <vt:lpstr>أنواع التكاليف في محاسبة التكاليف </vt:lpstr>
      <vt:lpstr>عرض تقديمي في PowerPoint</vt:lpstr>
      <vt:lpstr>عرض تقديمي في PowerPoint</vt:lpstr>
      <vt:lpstr>عرض تقديمي في PowerPoint</vt:lpstr>
      <vt:lpstr>أسئلة للمناقشة والرد على الاستفسارات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
  <cp:lastModifiedBy/>
  <cp:revision>10</cp:revision>
  <dcterms:created xsi:type="dcterms:W3CDTF">2026-01-24T20:02:33Z</dcterms:created>
  <dcterms:modified xsi:type="dcterms:W3CDTF">2026-09-13T10:31:21Z</dcterms:modified>
</cp:coreProperties>
</file>